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545716" y="3245363"/>
            <a:ext cx="6755130" cy="6505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737852" y="3127811"/>
            <a:ext cx="8168640" cy="5568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1172" y="1426845"/>
            <a:ext cx="16603903" cy="8996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4900" y="3398551"/>
            <a:ext cx="15316200" cy="4358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bhaktictak/ksp-crime-intelligence" TargetMode="External"/><Relationship Id="rId3" Type="http://schemas.openxmlformats.org/officeDocument/2006/relationships/hyperlink" Target="https://kspcrimeintelligence-50044296851.development.catalystappsail.in/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00150" y="6417945"/>
            <a:ext cx="12863195" cy="2585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" b="1">
                <a:latin typeface="Arial"/>
                <a:cs typeface="Arial"/>
              </a:rPr>
              <a:t>Team</a:t>
            </a:r>
            <a:r>
              <a:rPr dirty="0" sz="2800" spc="-13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Details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Arial"/>
              <a:cs typeface="Arial"/>
            </a:endParaRPr>
          </a:p>
          <a:p>
            <a:pPr marL="863600" indent="-394335">
              <a:lnSpc>
                <a:spcPct val="100000"/>
              </a:lnSpc>
              <a:buAutoNum type="alphaLcPeriod"/>
              <a:tabLst>
                <a:tab pos="863600" algn="l"/>
              </a:tabLst>
            </a:pPr>
            <a:r>
              <a:rPr dirty="0" sz="2800" spc="-30" b="1">
                <a:latin typeface="Arial"/>
                <a:cs typeface="Arial"/>
              </a:rPr>
              <a:t>Team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name: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My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internet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is</a:t>
            </a:r>
            <a:r>
              <a:rPr dirty="0" sz="2800" spc="-9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Cooked</a:t>
            </a:r>
            <a:endParaRPr sz="2800">
              <a:latin typeface="Arial"/>
              <a:cs typeface="Arial"/>
            </a:endParaRPr>
          </a:p>
          <a:p>
            <a:pPr marL="882015" indent="-412750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882015" algn="l"/>
              </a:tabLst>
            </a:pPr>
            <a:r>
              <a:rPr dirty="0" sz="2800" spc="-35" b="1">
                <a:latin typeface="Arial"/>
                <a:cs typeface="Arial"/>
              </a:rPr>
              <a:t>Team</a:t>
            </a:r>
            <a:r>
              <a:rPr dirty="0" sz="2800" spc="-9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leader</a:t>
            </a:r>
            <a:r>
              <a:rPr dirty="0" sz="2800" spc="-9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name:</a:t>
            </a:r>
            <a:r>
              <a:rPr dirty="0" sz="2800" spc="-8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Bhakti</a:t>
            </a:r>
            <a:r>
              <a:rPr dirty="0" sz="2800" spc="-8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Chand</a:t>
            </a:r>
            <a:r>
              <a:rPr dirty="0" sz="2800" spc="-70" b="1">
                <a:latin typeface="Arial"/>
                <a:cs typeface="Arial"/>
              </a:rPr>
              <a:t> </a:t>
            </a:r>
            <a:r>
              <a:rPr dirty="0" sz="2800" spc="-25" b="1">
                <a:latin typeface="Arial"/>
                <a:cs typeface="Arial"/>
              </a:rPr>
              <a:t>Tak</a:t>
            </a:r>
            <a:endParaRPr sz="2800">
              <a:latin typeface="Arial"/>
              <a:cs typeface="Arial"/>
            </a:endParaRPr>
          </a:p>
          <a:p>
            <a:pPr marL="862965" indent="-393700">
              <a:lnSpc>
                <a:spcPct val="100000"/>
              </a:lnSpc>
              <a:buAutoNum type="alphaLcPeriod"/>
              <a:tabLst>
                <a:tab pos="862965" algn="l"/>
              </a:tabLst>
            </a:pPr>
            <a:r>
              <a:rPr dirty="0" sz="2800" spc="-35" b="1">
                <a:latin typeface="Arial"/>
                <a:cs typeface="Arial"/>
              </a:rPr>
              <a:t>Team</a:t>
            </a:r>
            <a:r>
              <a:rPr dirty="0" sz="2800" spc="-9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size:</a:t>
            </a:r>
            <a:r>
              <a:rPr dirty="0" sz="2800" spc="-105" b="1">
                <a:latin typeface="Arial"/>
                <a:cs typeface="Arial"/>
              </a:rPr>
              <a:t> </a:t>
            </a:r>
            <a:r>
              <a:rPr dirty="0" sz="2800" spc="-50" b="1">
                <a:latin typeface="Arial"/>
                <a:cs typeface="Arial"/>
              </a:rPr>
              <a:t>4</a:t>
            </a:r>
            <a:endParaRPr sz="2800">
              <a:latin typeface="Arial"/>
              <a:cs typeface="Arial"/>
            </a:endParaRPr>
          </a:p>
          <a:p>
            <a:pPr marL="882015" indent="-412750">
              <a:lnSpc>
                <a:spcPct val="100000"/>
              </a:lnSpc>
              <a:buAutoNum type="alphaLcPeriod"/>
              <a:tabLst>
                <a:tab pos="882015" algn="l"/>
              </a:tabLst>
            </a:pPr>
            <a:r>
              <a:rPr dirty="0" sz="2800" b="1">
                <a:latin typeface="Arial"/>
                <a:cs typeface="Arial"/>
              </a:rPr>
              <a:t>Problem</a:t>
            </a:r>
            <a:r>
              <a:rPr dirty="0" sz="2800" spc="-10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Statement:</a:t>
            </a:r>
            <a:r>
              <a:rPr dirty="0" sz="2800" spc="-18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AI-</a:t>
            </a:r>
            <a:r>
              <a:rPr dirty="0" sz="2800" b="1">
                <a:latin typeface="Arial"/>
                <a:cs typeface="Arial"/>
              </a:rPr>
              <a:t>Driven</a:t>
            </a:r>
            <a:r>
              <a:rPr dirty="0" sz="2800" spc="-10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Crime</a:t>
            </a:r>
            <a:r>
              <a:rPr dirty="0" sz="2800" spc="-18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Analytics</a:t>
            </a:r>
            <a:r>
              <a:rPr dirty="0" sz="2800" spc="-6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&amp;</a:t>
            </a:r>
            <a:r>
              <a:rPr dirty="0" sz="2800" spc="-114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Visualization</a:t>
            </a:r>
            <a:r>
              <a:rPr dirty="0" sz="2800" spc="-10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Platform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9107" rIns="0" bIns="0" rtlCol="0" vert="horz">
            <a:spAutoFit/>
          </a:bodyPr>
          <a:lstStyle/>
          <a:p>
            <a:pPr marL="706120">
              <a:lnSpc>
                <a:spcPct val="100000"/>
              </a:lnSpc>
              <a:spcBef>
                <a:spcPts val="100"/>
              </a:spcBef>
            </a:pPr>
            <a:r>
              <a:rPr dirty="0" sz="3500"/>
              <a:t>A</a:t>
            </a:r>
            <a:r>
              <a:rPr dirty="0" sz="3500" spc="-175"/>
              <a:t> </a:t>
            </a:r>
            <a:r>
              <a:rPr dirty="0" sz="3500"/>
              <a:t>verified</a:t>
            </a:r>
            <a:r>
              <a:rPr dirty="0" sz="3500" spc="-40"/>
              <a:t> </a:t>
            </a:r>
            <a:r>
              <a:rPr dirty="0" sz="3500" spc="-10"/>
              <a:t>data-to-</a:t>
            </a:r>
            <a:r>
              <a:rPr dirty="0" sz="3500"/>
              <a:t>dashboard</a:t>
            </a:r>
            <a:r>
              <a:rPr dirty="0" sz="3500" spc="-35"/>
              <a:t> </a:t>
            </a:r>
            <a:r>
              <a:rPr dirty="0" sz="3500"/>
              <a:t>pipeline</a:t>
            </a:r>
            <a:r>
              <a:rPr dirty="0" sz="3500" spc="-15"/>
              <a:t> </a:t>
            </a:r>
            <a:r>
              <a:rPr dirty="0" sz="3500"/>
              <a:t>for</a:t>
            </a:r>
            <a:r>
              <a:rPr dirty="0" sz="3500" spc="-50"/>
              <a:t> </a:t>
            </a:r>
            <a:r>
              <a:rPr dirty="0" sz="3500"/>
              <a:t>next-week</a:t>
            </a:r>
            <a:r>
              <a:rPr dirty="0" sz="3500" spc="-25"/>
              <a:t> </a:t>
            </a:r>
            <a:r>
              <a:rPr dirty="0" sz="3500"/>
              <a:t>crime</a:t>
            </a:r>
            <a:r>
              <a:rPr dirty="0" sz="3500" spc="-45"/>
              <a:t> </a:t>
            </a:r>
            <a:r>
              <a:rPr dirty="0" sz="3500" spc="-10"/>
              <a:t>intelligence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1126642" y="2963926"/>
            <a:ext cx="14218919" cy="1579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An</a:t>
            </a:r>
            <a:r>
              <a:rPr dirty="0" sz="255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-25" b="1">
                <a:solidFill>
                  <a:srgbClr val="111111"/>
                </a:solidFill>
                <a:latin typeface="Arial"/>
                <a:cs typeface="Arial"/>
              </a:rPr>
              <a:t>end-</a:t>
            </a:r>
            <a:r>
              <a:rPr dirty="0" sz="2550" spc="-20" b="1">
                <a:solidFill>
                  <a:srgbClr val="111111"/>
                </a:solidFill>
                <a:latin typeface="Arial"/>
                <a:cs typeface="Arial"/>
              </a:rPr>
              <a:t>to-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end,</a:t>
            </a:r>
            <a:r>
              <a:rPr dirty="0" sz="2550" spc="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-25" b="1">
                <a:solidFill>
                  <a:srgbClr val="111111"/>
                </a:solidFill>
                <a:latin typeface="Arial"/>
                <a:cs typeface="Arial"/>
              </a:rPr>
              <a:t>leakage-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aware</a:t>
            </a:r>
            <a:r>
              <a:rPr dirty="0" sz="2550" spc="-1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AI</a:t>
            </a:r>
            <a:r>
              <a:rPr dirty="0" sz="255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platform</a:t>
            </a:r>
            <a:r>
              <a:rPr dirty="0" sz="255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that</a:t>
            </a:r>
            <a:r>
              <a:rPr dirty="0" sz="255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converts</a:t>
            </a:r>
            <a:r>
              <a:rPr dirty="0" sz="255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raw</a:t>
            </a:r>
            <a:r>
              <a:rPr dirty="0" sz="255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police</a:t>
            </a:r>
            <a:r>
              <a:rPr dirty="0" sz="2550" spc="-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FIR</a:t>
            </a:r>
            <a:r>
              <a:rPr dirty="0" sz="255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r>
              <a:rPr dirty="0" sz="255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into</a:t>
            </a:r>
            <a:r>
              <a:rPr dirty="0" sz="255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dirty="0" sz="255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-20" b="1">
                <a:solidFill>
                  <a:srgbClr val="111111"/>
                </a:solidFill>
                <a:latin typeface="Arial"/>
                <a:cs typeface="Arial"/>
              </a:rPr>
              <a:t>week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predictive</a:t>
            </a:r>
            <a:r>
              <a:rPr dirty="0" sz="2550" spc="-7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crime</a:t>
            </a:r>
            <a:r>
              <a:rPr dirty="0" sz="2550" spc="-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intelligence,</a:t>
            </a:r>
            <a:r>
              <a:rPr dirty="0" sz="255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111111"/>
                </a:solidFill>
                <a:latin typeface="Arial"/>
                <a:cs typeface="Arial"/>
              </a:rPr>
              <a:t>district-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calibrated</a:t>
            </a:r>
            <a:r>
              <a:rPr dirty="0" sz="255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risk</a:t>
            </a:r>
            <a:r>
              <a:rPr dirty="0" sz="2550" spc="-8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zones,</a:t>
            </a:r>
            <a:r>
              <a:rPr dirty="0" sz="255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111111"/>
                </a:solidFill>
                <a:latin typeface="Arial"/>
                <a:cs typeface="Arial"/>
              </a:rPr>
              <a:t>repeat-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offender</a:t>
            </a:r>
            <a:r>
              <a:rPr dirty="0" sz="255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tracking,</a:t>
            </a:r>
            <a:r>
              <a:rPr dirty="0" sz="2550" spc="-7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111111"/>
                </a:solidFill>
                <a:latin typeface="Arial"/>
                <a:cs typeface="Arial"/>
              </a:rPr>
              <a:t>cyber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networks,</a:t>
            </a:r>
            <a:r>
              <a:rPr dirty="0" sz="2550" spc="-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dirty="0" sz="255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111111"/>
                </a:solidFill>
                <a:latin typeface="Arial"/>
                <a:cs typeface="Arial"/>
              </a:rPr>
              <a:t>real-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time</a:t>
            </a:r>
            <a:r>
              <a:rPr dirty="0" sz="2550" spc="-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scenario</a:t>
            </a:r>
            <a:r>
              <a:rPr dirty="0" sz="255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simulations</a:t>
            </a:r>
            <a:r>
              <a:rPr dirty="0" sz="255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all</a:t>
            </a:r>
            <a:r>
              <a:rPr dirty="0" sz="255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packaged</a:t>
            </a:r>
            <a:r>
              <a:rPr dirty="0" sz="255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dirty="0" sz="255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one</a:t>
            </a:r>
            <a:r>
              <a:rPr dirty="0" sz="255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portable,</a:t>
            </a:r>
            <a:r>
              <a:rPr dirty="0" sz="255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zero</a:t>
            </a:r>
            <a:r>
              <a:rPr dirty="0" sz="2550" spc="-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111111"/>
                </a:solidFill>
                <a:latin typeface="Arial"/>
                <a:cs typeface="Arial"/>
              </a:rPr>
              <a:t>dependency dashboard.</a:t>
            </a:r>
            <a:endParaRPr sz="25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7750" y="5198109"/>
            <a:ext cx="76200" cy="952500"/>
          </a:xfrm>
          <a:custGeom>
            <a:avLst/>
            <a:gdLst/>
            <a:ahLst/>
            <a:cxnLst/>
            <a:rect l="l" t="t" r="r" b="b"/>
            <a:pathLst>
              <a:path w="76200" h="952500">
                <a:moveTo>
                  <a:pt x="76200" y="0"/>
                </a:moveTo>
                <a:lnTo>
                  <a:pt x="0" y="0"/>
                </a:lnTo>
                <a:lnTo>
                  <a:pt x="0" y="952500"/>
                </a:lnTo>
                <a:lnTo>
                  <a:pt x="76200" y="952500"/>
                </a:lnTo>
                <a:lnTo>
                  <a:pt x="76200" y="0"/>
                </a:lnTo>
                <a:close/>
              </a:path>
            </a:pathLst>
          </a:custGeom>
          <a:solidFill>
            <a:srgbClr val="00A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5216" y="5089544"/>
            <a:ext cx="2651760" cy="13233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3450" spc="-10" b="1">
                <a:solidFill>
                  <a:srgbClr val="00A99D"/>
                </a:solidFill>
                <a:latin typeface="Arial"/>
                <a:cs typeface="Arial"/>
              </a:rPr>
              <a:t>80,000</a:t>
            </a:r>
            <a:endParaRPr sz="34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70"/>
              </a:spcBef>
            </a:pP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Synthetic</a:t>
            </a:r>
            <a:r>
              <a:rPr dirty="0" sz="2000" spc="-2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FIR</a:t>
            </a: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 Records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Grounded</a:t>
            </a:r>
            <a:r>
              <a:rPr dirty="0" sz="2000" spc="-7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in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Karnataka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62500" y="5198109"/>
            <a:ext cx="76200" cy="952500"/>
          </a:xfrm>
          <a:custGeom>
            <a:avLst/>
            <a:gdLst/>
            <a:ahLst/>
            <a:cxnLst/>
            <a:rect l="l" t="t" r="r" b="b"/>
            <a:pathLst>
              <a:path w="76200" h="952500">
                <a:moveTo>
                  <a:pt x="76200" y="0"/>
                </a:moveTo>
                <a:lnTo>
                  <a:pt x="0" y="0"/>
                </a:lnTo>
                <a:lnTo>
                  <a:pt x="0" y="952500"/>
                </a:lnTo>
                <a:lnTo>
                  <a:pt x="76200" y="952500"/>
                </a:lnTo>
                <a:lnTo>
                  <a:pt x="76200" y="0"/>
                </a:lnTo>
                <a:close/>
              </a:path>
            </a:pathLst>
          </a:custGeom>
          <a:solidFill>
            <a:srgbClr val="206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70475" y="5089544"/>
            <a:ext cx="2527300" cy="13233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3450" spc="-25" b="1">
                <a:solidFill>
                  <a:srgbClr val="2066F3"/>
                </a:solidFill>
                <a:latin typeface="Arial"/>
                <a:cs typeface="Arial"/>
              </a:rPr>
              <a:t>164</a:t>
            </a:r>
            <a:endParaRPr sz="34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70"/>
              </a:spcBef>
            </a:pP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Police</a:t>
            </a:r>
            <a:r>
              <a:rPr dirty="0" sz="2000" spc="-6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Stations</a:t>
            </a:r>
            <a:r>
              <a:rPr dirty="0" sz="2000" spc="-7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across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31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Districts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77250" y="5198109"/>
            <a:ext cx="76200" cy="952500"/>
          </a:xfrm>
          <a:custGeom>
            <a:avLst/>
            <a:gdLst/>
            <a:ahLst/>
            <a:cxnLst/>
            <a:rect l="l" t="t" r="r" b="b"/>
            <a:pathLst>
              <a:path w="76200" h="952500">
                <a:moveTo>
                  <a:pt x="76200" y="0"/>
                </a:moveTo>
                <a:lnTo>
                  <a:pt x="0" y="0"/>
                </a:lnTo>
                <a:lnTo>
                  <a:pt x="0" y="952500"/>
                </a:lnTo>
                <a:lnTo>
                  <a:pt x="76200" y="952500"/>
                </a:lnTo>
                <a:lnTo>
                  <a:pt x="76200" y="0"/>
                </a:lnTo>
                <a:close/>
              </a:path>
            </a:pathLst>
          </a:custGeom>
          <a:solidFill>
            <a:srgbClr val="5728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785352" y="5089544"/>
            <a:ext cx="1960880" cy="13233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3450" b="1">
                <a:solidFill>
                  <a:srgbClr val="5728E4"/>
                </a:solidFill>
                <a:latin typeface="Arial"/>
                <a:cs typeface="Arial"/>
              </a:rPr>
              <a:t>1</a:t>
            </a:r>
            <a:r>
              <a:rPr dirty="0" sz="3450" spc="-5" b="1">
                <a:solidFill>
                  <a:srgbClr val="5728E4"/>
                </a:solidFill>
                <a:latin typeface="Arial"/>
                <a:cs typeface="Arial"/>
              </a:rPr>
              <a:t> </a:t>
            </a:r>
            <a:r>
              <a:rPr dirty="0" sz="3450" spc="-20" b="1">
                <a:solidFill>
                  <a:srgbClr val="5728E4"/>
                </a:solidFill>
                <a:latin typeface="Arial"/>
                <a:cs typeface="Arial"/>
              </a:rPr>
              <a:t>week</a:t>
            </a:r>
            <a:endParaRPr sz="34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70"/>
              </a:spcBef>
            </a:pP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Chronological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Forecast</a:t>
            </a:r>
            <a:r>
              <a:rPr dirty="0" sz="2000" spc="-5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Horizon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906250" y="5198109"/>
            <a:ext cx="76200" cy="952500"/>
          </a:xfrm>
          <a:custGeom>
            <a:avLst/>
            <a:gdLst/>
            <a:ahLst/>
            <a:cxnLst/>
            <a:rect l="l" t="t" r="r" b="b"/>
            <a:pathLst>
              <a:path w="76200" h="952500">
                <a:moveTo>
                  <a:pt x="76200" y="0"/>
                </a:moveTo>
                <a:lnTo>
                  <a:pt x="0" y="0"/>
                </a:lnTo>
                <a:lnTo>
                  <a:pt x="0" y="952500"/>
                </a:lnTo>
                <a:lnTo>
                  <a:pt x="76200" y="952500"/>
                </a:lnTo>
                <a:lnTo>
                  <a:pt x="76200" y="0"/>
                </a:lnTo>
                <a:close/>
              </a:path>
            </a:pathLst>
          </a:custGeom>
          <a:solidFill>
            <a:srgbClr val="178B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214606" y="5089544"/>
            <a:ext cx="3103880" cy="13233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3450" b="1">
                <a:solidFill>
                  <a:srgbClr val="178B62"/>
                </a:solidFill>
                <a:latin typeface="Arial"/>
                <a:cs typeface="Arial"/>
              </a:rPr>
              <a:t>1 </a:t>
            </a:r>
            <a:r>
              <a:rPr dirty="0" sz="3450" spc="-20" b="1">
                <a:solidFill>
                  <a:srgbClr val="178B62"/>
                </a:solidFill>
                <a:latin typeface="Arial"/>
                <a:cs typeface="Arial"/>
              </a:rPr>
              <a:t>HTML</a:t>
            </a:r>
            <a:endParaRPr sz="34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70"/>
              </a:spcBef>
            </a:pP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Portable,</a:t>
            </a:r>
            <a:r>
              <a:rPr dirty="0" sz="2000" spc="-5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Embedded</a:t>
            </a:r>
            <a:r>
              <a:rPr dirty="0" sz="2000" spc="-3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HTML </a:t>
            </a: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Dashboard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3139" y="6907733"/>
            <a:ext cx="9962515" cy="3044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49452A"/>
                </a:solidFill>
                <a:latin typeface="Calibri"/>
                <a:cs typeface="Calibri"/>
              </a:rPr>
              <a:t>Bullet</a:t>
            </a:r>
            <a:r>
              <a:rPr dirty="0" sz="3000" spc="-105" b="1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49452A"/>
                </a:solidFill>
                <a:latin typeface="Calibri"/>
                <a:cs typeface="Calibri"/>
              </a:rPr>
              <a:t>Points</a:t>
            </a:r>
            <a:endParaRPr sz="3000">
              <a:latin typeface="Calibri"/>
              <a:cs typeface="Calibri"/>
            </a:endParaRPr>
          </a:p>
          <a:p>
            <a:pPr marL="352425" indent="-259079">
              <a:lnSpc>
                <a:spcPct val="100000"/>
              </a:lnSpc>
              <a:spcBef>
                <a:spcPts val="10"/>
              </a:spcBef>
              <a:buChar char="•"/>
              <a:tabLst>
                <a:tab pos="352425" algn="l"/>
              </a:tabLst>
            </a:pPr>
            <a:r>
              <a:rPr dirty="0" sz="2800" spc="-25">
                <a:solidFill>
                  <a:srgbClr val="49452A"/>
                </a:solidFill>
                <a:latin typeface="Calibri"/>
                <a:cs typeface="Calibri"/>
              </a:rPr>
              <a:t>Dual-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Engine</a:t>
            </a:r>
            <a:r>
              <a:rPr dirty="0" sz="2800" spc="-4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Predictive</a:t>
            </a:r>
            <a:r>
              <a:rPr dirty="0" sz="2800" spc="-5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9452A"/>
                </a:solidFill>
                <a:latin typeface="Calibri"/>
                <a:cs typeface="Calibri"/>
              </a:rPr>
              <a:t>Intelligence</a:t>
            </a:r>
            <a:r>
              <a:rPr dirty="0" sz="2800" spc="-6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(Count</a:t>
            </a:r>
            <a:r>
              <a:rPr dirty="0" sz="2800" spc="-5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&amp;</a:t>
            </a:r>
            <a:r>
              <a:rPr dirty="0" sz="2800" spc="-5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Serious</a:t>
            </a:r>
            <a:r>
              <a:rPr dirty="0" sz="2800" spc="-4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Risk</a:t>
            </a:r>
            <a:r>
              <a:rPr dirty="0" sz="2800" spc="-5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9452A"/>
                </a:solidFill>
                <a:latin typeface="Calibri"/>
                <a:cs typeface="Calibri"/>
              </a:rPr>
              <a:t>models)</a:t>
            </a:r>
            <a:endParaRPr sz="2800">
              <a:latin typeface="Calibri"/>
              <a:cs typeface="Calibri"/>
            </a:endParaRPr>
          </a:p>
          <a:p>
            <a:pPr marL="352425" indent="-259079">
              <a:lnSpc>
                <a:spcPct val="100000"/>
              </a:lnSpc>
              <a:buChar char="•"/>
              <a:tabLst>
                <a:tab pos="352425" algn="l"/>
              </a:tabLst>
            </a:pPr>
            <a:r>
              <a:rPr dirty="0" sz="2800" spc="-20">
                <a:solidFill>
                  <a:srgbClr val="49452A"/>
                </a:solidFill>
                <a:latin typeface="Calibri"/>
                <a:cs typeface="Calibri"/>
              </a:rPr>
              <a:t>District-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Calibrated</a:t>
            </a:r>
            <a:r>
              <a:rPr dirty="0" sz="2800" spc="-8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Hotspots</a:t>
            </a:r>
            <a:r>
              <a:rPr dirty="0" sz="2800" spc="-8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9452A"/>
                </a:solidFill>
                <a:latin typeface="Calibri"/>
                <a:cs typeface="Calibri"/>
              </a:rPr>
              <a:t>(PAI</a:t>
            </a:r>
            <a:r>
              <a:rPr dirty="0" sz="2800" spc="-9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+</a:t>
            </a:r>
            <a:r>
              <a:rPr dirty="0" sz="2800" spc="-114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9452A"/>
                </a:solidFill>
                <a:latin typeface="Calibri"/>
                <a:cs typeface="Calibri"/>
              </a:rPr>
              <a:t>Voronoi</a:t>
            </a:r>
            <a:r>
              <a:rPr dirty="0" sz="2800" spc="-9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9452A"/>
                </a:solidFill>
                <a:latin typeface="Calibri"/>
                <a:cs typeface="Calibri"/>
              </a:rPr>
              <a:t>boundaries)</a:t>
            </a:r>
            <a:endParaRPr sz="2800">
              <a:latin typeface="Calibri"/>
              <a:cs typeface="Calibri"/>
            </a:endParaRPr>
          </a:p>
          <a:p>
            <a:pPr marL="352425" indent="-259079">
              <a:lnSpc>
                <a:spcPct val="100000"/>
              </a:lnSpc>
              <a:buChar char="•"/>
              <a:tabLst>
                <a:tab pos="352425" algn="l"/>
              </a:tabLst>
            </a:pP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Cyber</a:t>
            </a:r>
            <a:r>
              <a:rPr dirty="0" sz="2800" spc="-9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&amp;</a:t>
            </a:r>
            <a:r>
              <a:rPr dirty="0" sz="2800" spc="-7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Financial</a:t>
            </a:r>
            <a:r>
              <a:rPr dirty="0" sz="2800" spc="-7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Route</a:t>
            </a:r>
            <a:r>
              <a:rPr dirty="0" sz="2800" spc="-8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9452A"/>
                </a:solidFill>
                <a:latin typeface="Calibri"/>
                <a:cs typeface="Calibri"/>
              </a:rPr>
              <a:t>Tracking</a:t>
            </a:r>
            <a:r>
              <a:rPr dirty="0" sz="2800" spc="-9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(Repeat</a:t>
            </a:r>
            <a:r>
              <a:rPr dirty="0" sz="2800" spc="-9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accused</a:t>
            </a:r>
            <a:r>
              <a:rPr dirty="0" sz="2800" spc="-8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network</a:t>
            </a:r>
            <a:r>
              <a:rPr dirty="0" sz="2800" spc="-7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9452A"/>
                </a:solidFill>
                <a:latin typeface="Calibri"/>
                <a:cs typeface="Calibri"/>
              </a:rPr>
              <a:t>graphs)</a:t>
            </a:r>
            <a:endParaRPr sz="2800">
              <a:latin typeface="Calibri"/>
              <a:cs typeface="Calibri"/>
            </a:endParaRPr>
          </a:p>
          <a:p>
            <a:pPr marL="352425" indent="-259079">
              <a:lnSpc>
                <a:spcPct val="100000"/>
              </a:lnSpc>
              <a:buClr>
                <a:srgbClr val="49452A"/>
              </a:buClr>
              <a:buChar char="•"/>
              <a:tabLst>
                <a:tab pos="352425" algn="l"/>
              </a:tabLst>
            </a:pPr>
            <a:r>
              <a:rPr dirty="0" sz="2800" spc="-10">
                <a:latin typeface="Calibri"/>
                <a:cs typeface="Calibri"/>
              </a:rPr>
              <a:t>Socio-</a:t>
            </a:r>
            <a:r>
              <a:rPr dirty="0" sz="2800">
                <a:latin typeface="Calibri"/>
                <a:cs typeface="Calibri"/>
              </a:rPr>
              <a:t>economic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crime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correlation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(strict</a:t>
            </a:r>
            <a:r>
              <a:rPr dirty="0" sz="2800" spc="-8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9452A"/>
                </a:solidFill>
                <a:latin typeface="Calibri"/>
                <a:cs typeface="Calibri"/>
              </a:rPr>
              <a:t>statistical</a:t>
            </a:r>
            <a:r>
              <a:rPr dirty="0" sz="2800" spc="-8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9452A"/>
                </a:solidFill>
                <a:latin typeface="Calibri"/>
                <a:cs typeface="Calibri"/>
              </a:rPr>
              <a:t>governance)</a:t>
            </a:r>
            <a:endParaRPr sz="2800">
              <a:latin typeface="Calibri"/>
              <a:cs typeface="Calibri"/>
            </a:endParaRPr>
          </a:p>
          <a:p>
            <a:pPr marL="352425" indent="-259079">
              <a:lnSpc>
                <a:spcPct val="100000"/>
              </a:lnSpc>
              <a:buChar char="•"/>
              <a:tabLst>
                <a:tab pos="352425" algn="l"/>
              </a:tabLst>
            </a:pP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Dynamic</a:t>
            </a:r>
            <a:r>
              <a:rPr dirty="0" sz="2800" spc="-60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Scenario</a:t>
            </a:r>
            <a:r>
              <a:rPr dirty="0" sz="2800" spc="-7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Simulator</a:t>
            </a:r>
            <a:r>
              <a:rPr dirty="0" sz="2800" spc="-7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(Holidays,</a:t>
            </a:r>
            <a:r>
              <a:rPr dirty="0" sz="2800" spc="-6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9452A"/>
                </a:solidFill>
                <a:latin typeface="Calibri"/>
                <a:cs typeface="Calibri"/>
              </a:rPr>
              <a:t>hours,</a:t>
            </a:r>
            <a:r>
              <a:rPr dirty="0" sz="2800" spc="-55">
                <a:solidFill>
                  <a:srgbClr val="49452A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9452A"/>
                </a:solidFill>
                <a:latin typeface="Calibri"/>
                <a:cs typeface="Calibri"/>
              </a:rPr>
              <a:t>day-</a:t>
            </a:r>
            <a:r>
              <a:rPr dirty="0" sz="2800" spc="-10">
                <a:solidFill>
                  <a:srgbClr val="49452A"/>
                </a:solidFill>
                <a:latin typeface="Calibri"/>
                <a:cs typeface="Calibri"/>
              </a:rPr>
              <a:t>types)</a:t>
            </a:r>
            <a:endParaRPr sz="2800">
              <a:latin typeface="Calibri"/>
              <a:cs typeface="Calibri"/>
            </a:endParaRPr>
          </a:p>
          <a:p>
            <a:pPr marL="352425" indent="-259079">
              <a:lnSpc>
                <a:spcPct val="100000"/>
              </a:lnSpc>
              <a:spcBef>
                <a:spcPts val="5"/>
              </a:spcBef>
              <a:buClr>
                <a:srgbClr val="49452A"/>
              </a:buClr>
              <a:buChar char="•"/>
              <a:tabLst>
                <a:tab pos="352425" algn="l"/>
              </a:tabLst>
            </a:pPr>
            <a:r>
              <a:rPr dirty="0" sz="2800" spc="-30">
                <a:latin typeface="Calibri"/>
                <a:cs typeface="Calibri"/>
              </a:rPr>
              <a:t>Trend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alerts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&amp;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anomaly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detection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0323" y="1426845"/>
            <a:ext cx="970280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OPPORTUNITIES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/>
              <a:t>SOLUTION</a:t>
            </a:r>
            <a:r>
              <a:rPr dirty="0" spc="-55"/>
              <a:t> </a:t>
            </a:r>
            <a:r>
              <a:rPr dirty="0" spc="-10"/>
              <a:t>DIFFERENTIATION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642" y="2225878"/>
            <a:ext cx="5501005" cy="234823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3300" spc="-25" b="1">
                <a:solidFill>
                  <a:srgbClr val="111111"/>
                </a:solidFill>
                <a:latin typeface="Arial"/>
                <a:cs typeface="Arial"/>
              </a:rPr>
              <a:t>01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3000" b="1">
                <a:latin typeface="Calibri"/>
                <a:cs typeface="Calibri"/>
              </a:rPr>
              <a:t>A.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HOW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DIFFERENT</a:t>
            </a:r>
            <a:r>
              <a:rPr dirty="0" sz="3000" spc="-6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IS</a:t>
            </a:r>
            <a:r>
              <a:rPr dirty="0" sz="3000" spc="-25" b="1">
                <a:latin typeface="Calibri"/>
                <a:cs typeface="Calibri"/>
              </a:rPr>
              <a:t> IT?</a:t>
            </a:r>
            <a:endParaRPr sz="3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Char char="•"/>
              <a:tabLst>
                <a:tab pos="241300" algn="l"/>
              </a:tabLst>
            </a:pP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Unified</a:t>
            </a:r>
            <a:r>
              <a:rPr dirty="0" sz="2500" spc="-70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4F81BC"/>
                </a:solidFill>
                <a:latin typeface="Calibri"/>
                <a:cs typeface="Calibri"/>
              </a:rPr>
              <a:t>10-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phase</a:t>
            </a:r>
            <a:r>
              <a:rPr dirty="0" sz="2500" spc="-6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4F81BC"/>
                </a:solidFill>
                <a:latin typeface="Calibri"/>
                <a:cs typeface="Calibri"/>
              </a:rPr>
              <a:t>pipeline</a:t>
            </a:r>
            <a:endParaRPr sz="25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  <a:tab pos="3085465" algn="l"/>
              </a:tabLst>
            </a:pP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Zero</a:t>
            </a:r>
            <a:r>
              <a:rPr dirty="0" sz="2500" spc="-6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future</a:t>
            </a:r>
            <a:r>
              <a:rPr dirty="0" sz="2500" spc="-10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4F81BC"/>
                </a:solidFill>
                <a:latin typeface="Calibri"/>
                <a:cs typeface="Calibri"/>
              </a:rPr>
              <a:t>leakage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	</a:t>
            </a:r>
            <a:r>
              <a:rPr dirty="0" sz="2500" spc="-10" b="1">
                <a:solidFill>
                  <a:srgbClr val="4F81BC"/>
                </a:solidFill>
                <a:latin typeface="Calibri"/>
                <a:cs typeface="Calibri"/>
              </a:rPr>
              <a:t>chronological</a:t>
            </a:r>
            <a:r>
              <a:rPr dirty="0" sz="2500" spc="-7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4F81BC"/>
                </a:solidFill>
                <a:latin typeface="Calibri"/>
                <a:cs typeface="Calibri"/>
              </a:rPr>
              <a:t>split</a:t>
            </a:r>
            <a:endParaRPr sz="25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Live</a:t>
            </a:r>
            <a:r>
              <a:rPr dirty="0" sz="2500" spc="-3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spc="-20" b="1">
                <a:solidFill>
                  <a:srgbClr val="4F81BC"/>
                </a:solidFill>
                <a:latin typeface="Calibri"/>
                <a:cs typeface="Calibri"/>
              </a:rPr>
              <a:t>"What-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If"</a:t>
            </a:r>
            <a:r>
              <a:rPr dirty="0" sz="2500" spc="-70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scenario</a:t>
            </a:r>
            <a:r>
              <a:rPr dirty="0" sz="2500" spc="-40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4F81BC"/>
                </a:solidFill>
                <a:latin typeface="Calibri"/>
                <a:cs typeface="Calibri"/>
              </a:rPr>
              <a:t>simulations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21142" y="2083485"/>
            <a:ext cx="5490210" cy="2520315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50"/>
              </a:spcBef>
            </a:pPr>
            <a:r>
              <a:rPr dirty="0" sz="3300" spc="-25" b="1">
                <a:solidFill>
                  <a:srgbClr val="111111"/>
                </a:solidFill>
                <a:latin typeface="Arial"/>
                <a:cs typeface="Arial"/>
              </a:rPr>
              <a:t>02</a:t>
            </a:r>
            <a:endParaRPr sz="330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865"/>
              </a:spcBef>
            </a:pPr>
            <a:r>
              <a:rPr dirty="0" sz="3000" b="1">
                <a:latin typeface="Calibri"/>
                <a:cs typeface="Calibri"/>
              </a:rPr>
              <a:t>B.</a:t>
            </a:r>
            <a:r>
              <a:rPr dirty="0" sz="3000" spc="-6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HOW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DOES</a:t>
            </a:r>
            <a:r>
              <a:rPr dirty="0" sz="3000" spc="-8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IT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spc="-25" b="1">
                <a:latin typeface="Calibri"/>
                <a:cs typeface="Calibri"/>
              </a:rPr>
              <a:t>SOLVE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PROBLEM?</a:t>
            </a:r>
            <a:endParaRPr sz="30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270"/>
              </a:spcBef>
              <a:buFont typeface="Calibri"/>
              <a:buChar char="•"/>
              <a:tabLst>
                <a:tab pos="241935" algn="l"/>
              </a:tabLst>
            </a:pPr>
            <a:r>
              <a:rPr dirty="0" sz="2500" spc="-10" b="1">
                <a:solidFill>
                  <a:srgbClr val="4F81BC"/>
                </a:solidFill>
                <a:latin typeface="Calibri"/>
                <a:cs typeface="Calibri"/>
              </a:rPr>
              <a:t>Actionable</a:t>
            </a:r>
            <a:r>
              <a:rPr dirty="0" sz="2500" spc="-90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Station</a:t>
            </a:r>
            <a:r>
              <a:rPr dirty="0" sz="2500" spc="-8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4F81BC"/>
                </a:solidFill>
                <a:latin typeface="Calibri"/>
                <a:cs typeface="Calibri"/>
              </a:rPr>
              <a:t>Classifications</a:t>
            </a:r>
            <a:endParaRPr sz="25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buFont typeface="Calibri"/>
              <a:buChar char="•"/>
              <a:tabLst>
                <a:tab pos="241935" algn="l"/>
              </a:tabLst>
            </a:pPr>
            <a:r>
              <a:rPr dirty="0" sz="2500" spc="-25" b="1">
                <a:solidFill>
                  <a:srgbClr val="4F81BC"/>
                </a:solidFill>
                <a:latin typeface="Calibri"/>
                <a:cs typeface="Calibri"/>
              </a:rPr>
              <a:t>Cross-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Jurisdiction</a:t>
            </a:r>
            <a:r>
              <a:rPr dirty="0" sz="2500" spc="-4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Cyber</a:t>
            </a:r>
            <a:r>
              <a:rPr dirty="0" sz="2500" spc="-50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Crime</a:t>
            </a:r>
            <a:r>
              <a:rPr dirty="0" sz="2500" spc="-4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4F81BC"/>
                </a:solidFill>
                <a:latin typeface="Calibri"/>
                <a:cs typeface="Calibri"/>
              </a:rPr>
              <a:t>Routing</a:t>
            </a:r>
            <a:endParaRPr sz="25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buFont typeface="Calibri"/>
              <a:buChar char="•"/>
              <a:tabLst>
                <a:tab pos="241935" algn="l"/>
              </a:tabLst>
            </a:pP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Empirical</a:t>
            </a:r>
            <a:r>
              <a:rPr dirty="0" sz="2500" spc="-100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Bayes</a:t>
            </a:r>
            <a:r>
              <a:rPr dirty="0" sz="2500" spc="-114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4F81BC"/>
                </a:solidFill>
                <a:latin typeface="Calibri"/>
                <a:cs typeface="Calibri"/>
              </a:rPr>
              <a:t>Rate</a:t>
            </a:r>
            <a:r>
              <a:rPr dirty="0" sz="2500" spc="-105" b="1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4F81BC"/>
                </a:solidFill>
                <a:latin typeface="Calibri"/>
                <a:cs typeface="Calibri"/>
              </a:rPr>
              <a:t>Stabilization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6642" y="5014976"/>
            <a:ext cx="15481300" cy="4857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225675">
              <a:lnSpc>
                <a:spcPct val="100000"/>
              </a:lnSpc>
              <a:spcBef>
                <a:spcPts val="105"/>
              </a:spcBef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Different</a:t>
            </a:r>
            <a:r>
              <a:rPr dirty="0" sz="2300" spc="-4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-</a:t>
            </a:r>
            <a:r>
              <a:rPr dirty="0" sz="2300" spc="-5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Forecasting,</a:t>
            </a:r>
            <a:r>
              <a:rPr dirty="0" sz="2300" spc="-6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spatial</a:t>
            </a:r>
            <a:r>
              <a:rPr dirty="0" sz="23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clusters,</a:t>
            </a:r>
            <a:r>
              <a:rPr dirty="0" sz="2300" spc="-6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near-repeat</a:t>
            </a:r>
            <a:r>
              <a:rPr dirty="0" sz="2300" spc="-6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context,</a:t>
            </a:r>
            <a:r>
              <a:rPr dirty="0" sz="23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fairness</a:t>
            </a:r>
            <a:r>
              <a:rPr dirty="0" sz="2300" spc="-6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diagnostics</a:t>
            </a:r>
            <a:r>
              <a:rPr dirty="0" sz="2300" spc="-6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3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cyber</a:t>
            </a:r>
            <a:r>
              <a:rPr dirty="0" sz="23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routes</a:t>
            </a:r>
            <a:r>
              <a:rPr dirty="0" sz="2300" spc="-5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58606B"/>
                </a:solidFill>
                <a:latin typeface="Arial MT"/>
                <a:cs typeface="Arial MT"/>
              </a:rPr>
              <a:t>are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delivered</a:t>
            </a:r>
            <a:r>
              <a:rPr dirty="0" sz="2300" spc="-7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together</a:t>
            </a:r>
            <a:r>
              <a:rPr dirty="0" sz="2300" spc="-6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not</a:t>
            </a:r>
            <a:r>
              <a:rPr dirty="0" sz="2300" spc="-3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as</a:t>
            </a:r>
            <a:r>
              <a:rPr dirty="0" sz="2300" spc="-3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disconnected</a:t>
            </a:r>
            <a:r>
              <a:rPr dirty="0" sz="2300" spc="-2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58606B"/>
                </a:solidFill>
                <a:latin typeface="Arial MT"/>
                <a:cs typeface="Arial MT"/>
              </a:rPr>
              <a:t>notebooks.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146175" algn="l"/>
              </a:tabLst>
            </a:pP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Useful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	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-</a:t>
            </a:r>
            <a:r>
              <a:rPr dirty="0" sz="23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Station</a:t>
            </a:r>
            <a:r>
              <a:rPr dirty="0" sz="23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3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district</a:t>
            </a:r>
            <a:r>
              <a:rPr dirty="0" sz="23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views</a:t>
            </a:r>
            <a:r>
              <a:rPr dirty="0" sz="23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translate</a:t>
            </a:r>
            <a:r>
              <a:rPr dirty="0" sz="2300" spc="-7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model</a:t>
            </a:r>
            <a:r>
              <a:rPr dirty="0" sz="2300" spc="-6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outputs</a:t>
            </a:r>
            <a:r>
              <a:rPr dirty="0" sz="2300" spc="-6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into</a:t>
            </a:r>
            <a:r>
              <a:rPr dirty="0" sz="2300" spc="-3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map-based</a:t>
            </a:r>
            <a:r>
              <a:rPr dirty="0" sz="2300" spc="-7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operational</a:t>
            </a:r>
            <a:r>
              <a:rPr dirty="0" sz="2300" spc="-6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awareness</a:t>
            </a:r>
            <a:r>
              <a:rPr dirty="0" sz="2300" spc="-6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spc="-20">
                <a:solidFill>
                  <a:srgbClr val="58606B"/>
                </a:solidFill>
                <a:latin typeface="Arial MT"/>
                <a:cs typeface="Arial MT"/>
              </a:rPr>
              <a:t>with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transparent</a:t>
            </a:r>
            <a:r>
              <a:rPr dirty="0" sz="2300" spc="-8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thresholds</a:t>
            </a:r>
            <a:r>
              <a:rPr dirty="0" sz="2300" spc="-7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300" spc="-6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confidence</a:t>
            </a:r>
            <a:r>
              <a:rPr dirty="0" sz="2300" spc="-9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58606B"/>
                </a:solidFill>
                <a:latin typeface="Arial MT"/>
                <a:cs typeface="Arial MT"/>
              </a:rPr>
              <a:t>context.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300">
              <a:latin typeface="Arial MT"/>
              <a:cs typeface="Arial MT"/>
            </a:endParaRPr>
          </a:p>
          <a:p>
            <a:pPr marL="12700" marR="2120265">
              <a:lnSpc>
                <a:spcPct val="100000"/>
              </a:lnSpc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Defensible</a:t>
            </a:r>
            <a:r>
              <a:rPr dirty="0" sz="2300" spc="-6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-</a:t>
            </a:r>
            <a:r>
              <a:rPr dirty="0" sz="2300" spc="-3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Chronological</a:t>
            </a:r>
            <a:r>
              <a:rPr dirty="0" sz="2300" spc="-6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validation,</a:t>
            </a:r>
            <a:r>
              <a:rPr dirty="0" sz="2300" spc="-6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58606B"/>
                </a:solidFill>
                <a:latin typeface="Arial MT"/>
                <a:cs typeface="Arial MT"/>
              </a:rPr>
              <a:t>machine-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readable</a:t>
            </a:r>
            <a:r>
              <a:rPr dirty="0" sz="2300" spc="-6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sanity</a:t>
            </a:r>
            <a:r>
              <a:rPr dirty="0" sz="2300" spc="-5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reports</a:t>
            </a:r>
            <a:r>
              <a:rPr dirty="0" sz="2300" spc="-7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3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explicit</a:t>
            </a:r>
            <a:r>
              <a:rPr dirty="0" sz="23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synthetic-data</a:t>
            </a:r>
            <a:r>
              <a:rPr dirty="0" sz="23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58606B"/>
                </a:solidFill>
                <a:latin typeface="Arial MT"/>
                <a:cs typeface="Arial MT"/>
              </a:rPr>
              <a:t>limits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make</a:t>
            </a:r>
            <a:r>
              <a:rPr dirty="0" sz="23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every</a:t>
            </a:r>
            <a:r>
              <a:rPr dirty="0" sz="2300" spc="-3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8606B"/>
                </a:solidFill>
                <a:latin typeface="Arial MT"/>
                <a:cs typeface="Arial MT"/>
              </a:rPr>
              <a:t>output</a:t>
            </a:r>
            <a:r>
              <a:rPr dirty="0" sz="2300" spc="-5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58606B"/>
                </a:solidFill>
                <a:latin typeface="Arial MT"/>
                <a:cs typeface="Arial MT"/>
              </a:rPr>
              <a:t>reviewable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600" b="1">
                <a:solidFill>
                  <a:srgbClr val="375F92"/>
                </a:solidFill>
                <a:latin typeface="Arial"/>
                <a:cs typeface="Arial"/>
              </a:rPr>
              <a:t>UNIQUE</a:t>
            </a:r>
            <a:r>
              <a:rPr dirty="0" sz="2600" spc="-50" b="1">
                <a:solidFill>
                  <a:srgbClr val="375F92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375F92"/>
                </a:solidFill>
                <a:latin typeface="Arial"/>
                <a:cs typeface="Arial"/>
              </a:rPr>
              <a:t>SELLING</a:t>
            </a:r>
            <a:r>
              <a:rPr dirty="0" sz="2600" spc="-40" b="1">
                <a:solidFill>
                  <a:srgbClr val="375F92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375F92"/>
                </a:solidFill>
                <a:latin typeface="Arial"/>
                <a:cs typeface="Arial"/>
              </a:rPr>
              <a:t>PROPOSITION</a:t>
            </a:r>
            <a:r>
              <a:rPr dirty="0" sz="2600" spc="-45" b="1">
                <a:solidFill>
                  <a:srgbClr val="375F92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375F92"/>
                </a:solidFill>
                <a:latin typeface="Arial"/>
                <a:cs typeface="Arial"/>
              </a:rPr>
              <a:t>(USP)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390"/>
              </a:spcBef>
            </a:pP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USP:</a:t>
            </a:r>
            <a:r>
              <a:rPr dirty="0" sz="2400" spc="-45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Verified</a:t>
            </a:r>
            <a:r>
              <a:rPr dirty="0" sz="2400" spc="-40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synthetic</a:t>
            </a:r>
            <a:r>
              <a:rPr dirty="0" sz="2400" spc="-30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engineering</a:t>
            </a:r>
            <a:r>
              <a:rPr dirty="0" sz="2400" spc="-40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+</a:t>
            </a:r>
            <a:r>
              <a:rPr dirty="0" sz="2400" spc="-55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calibrated</a:t>
            </a:r>
            <a:r>
              <a:rPr dirty="0" sz="2400" spc="-55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multi-head</a:t>
            </a:r>
            <a:r>
              <a:rPr dirty="0" sz="2400" spc="-75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forecasting</a:t>
            </a:r>
            <a:r>
              <a:rPr dirty="0" sz="2400" spc="-40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+</a:t>
            </a:r>
            <a:r>
              <a:rPr dirty="0" sz="2400" spc="-55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bipartite</a:t>
            </a:r>
            <a:r>
              <a:rPr dirty="0" sz="2400" spc="-60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cyber</a:t>
            </a:r>
            <a:r>
              <a:rPr dirty="0" sz="2400" spc="-10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route</a:t>
            </a:r>
            <a:r>
              <a:rPr dirty="0" sz="2400" spc="-40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tracking</a:t>
            </a:r>
            <a:r>
              <a:rPr dirty="0" sz="2400" spc="-55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in</a:t>
            </a:r>
            <a:r>
              <a:rPr dirty="0" sz="2400" spc="-45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spc="-50" b="1">
                <a:solidFill>
                  <a:srgbClr val="178B62"/>
                </a:solidFill>
                <a:latin typeface="Arial"/>
                <a:cs typeface="Arial"/>
              </a:rPr>
              <a:t>a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single</a:t>
            </a:r>
            <a:r>
              <a:rPr dirty="0" sz="2400" spc="-45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deployable</a:t>
            </a:r>
            <a:r>
              <a:rPr dirty="0" sz="2400" spc="-15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78B62"/>
                </a:solidFill>
                <a:latin typeface="Arial"/>
                <a:cs typeface="Arial"/>
              </a:rPr>
              <a:t>web</a:t>
            </a:r>
            <a:r>
              <a:rPr dirty="0" sz="2400" spc="-60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78B62"/>
                </a:solidFill>
                <a:latin typeface="Arial"/>
                <a:cs typeface="Arial"/>
              </a:rPr>
              <a:t>artifact.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9884" rIns="0" bIns="0" rtlCol="0" vert="horz">
            <a:spAutoFit/>
          </a:bodyPr>
          <a:lstStyle/>
          <a:p>
            <a:pPr marL="14097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5"/>
              <a:t> </a:t>
            </a:r>
            <a:r>
              <a:rPr dirty="0"/>
              <a:t>feature</a:t>
            </a:r>
            <a:r>
              <a:rPr dirty="0" spc="-60"/>
              <a:t> </a:t>
            </a:r>
            <a:r>
              <a:rPr dirty="0"/>
              <a:t>set</a:t>
            </a:r>
            <a:r>
              <a:rPr dirty="0" spc="-30"/>
              <a:t> </a:t>
            </a:r>
            <a:r>
              <a:rPr dirty="0"/>
              <a:t>spans</a:t>
            </a:r>
            <a:r>
              <a:rPr dirty="0" spc="-60"/>
              <a:t> </a:t>
            </a:r>
            <a:r>
              <a:rPr dirty="0"/>
              <a:t>prediction,</a:t>
            </a:r>
            <a:r>
              <a:rPr dirty="0" spc="-60"/>
              <a:t> </a:t>
            </a:r>
            <a:r>
              <a:rPr dirty="0"/>
              <a:t>spatial</a:t>
            </a:r>
            <a:r>
              <a:rPr dirty="0" spc="-60"/>
              <a:t> </a:t>
            </a:r>
            <a:r>
              <a:rPr dirty="0"/>
              <a:t>context,</a:t>
            </a:r>
            <a:r>
              <a:rPr dirty="0" spc="-60"/>
              <a:t> </a:t>
            </a:r>
            <a:r>
              <a:rPr dirty="0"/>
              <a:t>cyber</a:t>
            </a:r>
            <a:r>
              <a:rPr dirty="0" spc="-30"/>
              <a:t> </a:t>
            </a:r>
            <a:r>
              <a:rPr dirty="0"/>
              <a:t>intelligence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 spc="-10"/>
              <a:t>auditability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1143000" y="3419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A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3000" y="4772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206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43000" y="6124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5728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43000" y="786041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399"/>
                </a:lnTo>
                <a:lnTo>
                  <a:pt x="152400" y="152399"/>
                </a:lnTo>
                <a:lnTo>
                  <a:pt x="152400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pc="-20"/>
              <a:t>Next-</a:t>
            </a:r>
            <a:r>
              <a:rPr dirty="0"/>
              <a:t>Week</a:t>
            </a:r>
            <a:r>
              <a:rPr dirty="0" spc="-65"/>
              <a:t> </a:t>
            </a:r>
            <a:r>
              <a:rPr dirty="0"/>
              <a:t>Crime</a:t>
            </a:r>
            <a:r>
              <a:rPr dirty="0" spc="-75"/>
              <a:t> </a:t>
            </a:r>
            <a:r>
              <a:rPr dirty="0" spc="-10"/>
              <a:t>Forecast</a:t>
            </a: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Poisson</a:t>
            </a:r>
            <a:r>
              <a:rPr dirty="0" sz="2400" spc="-9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gradient</a:t>
            </a:r>
            <a:r>
              <a:rPr dirty="0" sz="2400" spc="-9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boosting</a:t>
            </a:r>
            <a:r>
              <a:rPr dirty="0" sz="2400" spc="-9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with</a:t>
            </a:r>
            <a:r>
              <a:rPr dirty="0" sz="2400" spc="-7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58606B"/>
                </a:solidFill>
              </a:rPr>
              <a:t>chronological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 spc="-10" b="0">
                <a:solidFill>
                  <a:srgbClr val="58606B"/>
                </a:solidFill>
                <a:latin typeface="Arial MT"/>
                <a:cs typeface="Arial MT"/>
              </a:rPr>
              <a:t>evaluation.</a:t>
            </a:r>
            <a:endParaRPr sz="2400">
              <a:latin typeface="Arial MT"/>
              <a:cs typeface="Arial MT"/>
            </a:endParaRPr>
          </a:p>
          <a:p>
            <a:pPr marL="12700" marR="595630">
              <a:lnSpc>
                <a:spcPct val="102699"/>
              </a:lnSpc>
              <a:spcBef>
                <a:spcPts val="1260"/>
              </a:spcBef>
            </a:pPr>
            <a:r>
              <a:rPr dirty="0"/>
              <a:t>Serious</a:t>
            </a:r>
            <a:r>
              <a:rPr dirty="0" spc="-90"/>
              <a:t> </a:t>
            </a:r>
            <a:r>
              <a:rPr dirty="0"/>
              <a:t>Offence</a:t>
            </a:r>
            <a:r>
              <a:rPr dirty="0" spc="-90"/>
              <a:t> </a:t>
            </a:r>
            <a:r>
              <a:rPr dirty="0" spc="-10"/>
              <a:t>Probability</a:t>
            </a:r>
            <a:r>
              <a:rPr dirty="0" spc="700"/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Calibrated</a:t>
            </a:r>
            <a:r>
              <a:rPr dirty="0" sz="2400" spc="-7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classifier</a:t>
            </a:r>
            <a:r>
              <a:rPr dirty="0" sz="2400" spc="-8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with</a:t>
            </a:r>
            <a:r>
              <a:rPr dirty="0" sz="2400" spc="-8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a</a:t>
            </a:r>
            <a:r>
              <a:rPr dirty="0" sz="2400" spc="-9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validation</a:t>
            </a:r>
            <a:r>
              <a:rPr dirty="0" sz="2400" spc="-7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10" b="0">
                <a:solidFill>
                  <a:srgbClr val="58606B"/>
                </a:solidFill>
                <a:latin typeface="Arial MT"/>
                <a:cs typeface="Arial MT"/>
              </a:rPr>
              <a:t>selected threshold.</a:t>
            </a:r>
            <a:endParaRPr sz="2400">
              <a:latin typeface="Arial MT"/>
              <a:cs typeface="Arial MT"/>
            </a:endParaRPr>
          </a:p>
          <a:p>
            <a:pPr marL="12700" marR="88900">
              <a:lnSpc>
                <a:spcPct val="100000"/>
              </a:lnSpc>
              <a:spcBef>
                <a:spcPts val="1350"/>
              </a:spcBef>
            </a:pPr>
            <a:r>
              <a:rPr dirty="0"/>
              <a:t>District</a:t>
            </a:r>
            <a:r>
              <a:rPr dirty="0" spc="-125"/>
              <a:t> </a:t>
            </a:r>
            <a:r>
              <a:rPr dirty="0" spc="-20"/>
              <a:t>PAI</a:t>
            </a:r>
            <a:r>
              <a:rPr dirty="0" spc="-114"/>
              <a:t> </a:t>
            </a:r>
            <a:r>
              <a:rPr dirty="0" spc="-10"/>
              <a:t>(Predictive</a:t>
            </a:r>
            <a:r>
              <a:rPr dirty="0" spc="-185"/>
              <a:t> </a:t>
            </a:r>
            <a:r>
              <a:rPr dirty="0"/>
              <a:t>Accuracy</a:t>
            </a:r>
            <a:r>
              <a:rPr dirty="0" spc="-85"/>
              <a:t> </a:t>
            </a:r>
            <a:r>
              <a:rPr dirty="0" spc="-10"/>
              <a:t>Index) </a:t>
            </a:r>
            <a:r>
              <a:rPr dirty="0"/>
              <a:t>Risk</a:t>
            </a:r>
            <a:r>
              <a:rPr dirty="0" spc="-80"/>
              <a:t> </a:t>
            </a:r>
            <a:r>
              <a:rPr dirty="0" spc="-10"/>
              <a:t>Calibration</a:t>
            </a: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400" spc="-10" b="0">
                <a:solidFill>
                  <a:srgbClr val="58606B"/>
                </a:solidFill>
                <a:latin typeface="Arial MT"/>
                <a:cs typeface="Arial MT"/>
              </a:rPr>
              <a:t>Prospective</a:t>
            </a:r>
            <a:r>
              <a:rPr dirty="0" sz="2400" spc="-8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count</a:t>
            </a:r>
            <a:r>
              <a:rPr dirty="0" sz="2400" spc="-8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thresholds</a:t>
            </a:r>
            <a:r>
              <a:rPr dirty="0" sz="2400" spc="-7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selected</a:t>
            </a:r>
            <a:r>
              <a:rPr dirty="0" sz="2400" spc="-7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by</a:t>
            </a:r>
            <a:r>
              <a:rPr dirty="0" sz="2400" spc="-8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10" b="0">
                <a:solidFill>
                  <a:srgbClr val="58606B"/>
                </a:solidFill>
                <a:latin typeface="Arial MT"/>
                <a:cs typeface="Arial MT"/>
              </a:rPr>
              <a:t>district.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400">
              <a:latin typeface="Arial MT"/>
              <a:cs typeface="Arial MT"/>
            </a:endParaRPr>
          </a:p>
          <a:p>
            <a:pPr marL="12700" marR="163195">
              <a:lnSpc>
                <a:spcPct val="100000"/>
              </a:lnSpc>
              <a:spcBef>
                <a:spcPts val="5"/>
              </a:spcBef>
            </a:pPr>
            <a:r>
              <a:rPr dirty="0"/>
              <a:t>DBSCAN</a:t>
            </a:r>
            <a:r>
              <a:rPr dirty="0" spc="-25"/>
              <a:t> </a:t>
            </a:r>
            <a:r>
              <a:rPr dirty="0" spc="-30"/>
              <a:t>(Trend</a:t>
            </a:r>
            <a:r>
              <a:rPr dirty="0" spc="-145"/>
              <a:t> </a:t>
            </a:r>
            <a:r>
              <a:rPr dirty="0"/>
              <a:t>Alerts</a:t>
            </a:r>
            <a:r>
              <a:rPr dirty="0" spc="-55"/>
              <a:t> </a:t>
            </a:r>
            <a:r>
              <a:rPr dirty="0"/>
              <a:t>)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 spc="-20"/>
              <a:t>Near-</a:t>
            </a:r>
            <a:r>
              <a:rPr dirty="0" spc="-10"/>
              <a:t>Repeat Contagion</a:t>
            </a:r>
          </a:p>
          <a:p>
            <a:pPr marL="12700" marR="5080">
              <a:lnSpc>
                <a:spcPct val="100000"/>
              </a:lnSpc>
              <a:spcBef>
                <a:spcPts val="475"/>
              </a:spcBef>
            </a:pP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Recent</a:t>
            </a:r>
            <a:r>
              <a:rPr dirty="0" sz="2400" spc="-4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DBSCAN</a:t>
            </a:r>
            <a:r>
              <a:rPr dirty="0" sz="2400" spc="-4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clusters</a:t>
            </a:r>
            <a:r>
              <a:rPr dirty="0" sz="2400" spc="-5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plus</a:t>
            </a:r>
            <a:r>
              <a:rPr dirty="0" sz="2400" spc="-5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20" b="0">
                <a:solidFill>
                  <a:srgbClr val="58606B"/>
                </a:solidFill>
                <a:latin typeface="Arial MT"/>
                <a:cs typeface="Arial MT"/>
              </a:rPr>
              <a:t>permutation-</a:t>
            </a:r>
            <a:r>
              <a:rPr dirty="0" sz="2400" spc="-10" b="0">
                <a:solidFill>
                  <a:srgbClr val="58606B"/>
                </a:solidFill>
                <a:latin typeface="Arial MT"/>
                <a:cs typeface="Arial MT"/>
              </a:rPr>
              <a:t>tested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proximity</a:t>
            </a:r>
            <a:r>
              <a:rPr dirty="0" sz="2400" spc="-7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signals</a:t>
            </a:r>
            <a:r>
              <a:rPr dirty="0" sz="2400" spc="-6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(Haversine</a:t>
            </a:r>
            <a:r>
              <a:rPr dirty="0" sz="2400" spc="-7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clusters</a:t>
            </a:r>
            <a:r>
              <a:rPr dirty="0" sz="2400" spc="-8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58606B"/>
                </a:solidFill>
                <a:latin typeface="Arial MT"/>
                <a:cs typeface="Arial MT"/>
              </a:rPr>
              <a:t>+</a:t>
            </a:r>
            <a:r>
              <a:rPr dirty="0" sz="2400" spc="-8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20" b="0">
                <a:solidFill>
                  <a:srgbClr val="58606B"/>
                </a:solidFill>
                <a:latin typeface="Arial MT"/>
                <a:cs typeface="Arial MT"/>
              </a:rPr>
              <a:t>Knox </a:t>
            </a:r>
            <a:r>
              <a:rPr dirty="0" sz="2400" spc="-10" b="0">
                <a:solidFill>
                  <a:srgbClr val="58606B"/>
                </a:solidFill>
                <a:latin typeface="Arial MT"/>
                <a:cs typeface="Arial MT"/>
              </a:rPr>
              <a:t>decay).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29750" y="3419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A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429750" y="4772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206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429750" y="6124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5728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429750" y="8029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178B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833229" y="3245363"/>
            <a:ext cx="7569834" cy="584454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1657350">
              <a:lnSpc>
                <a:spcPct val="102699"/>
              </a:lnSpc>
              <a:spcBef>
                <a:spcPts val="215"/>
              </a:spcBef>
            </a:pPr>
            <a:r>
              <a:rPr dirty="0" sz="2800" b="1">
                <a:solidFill>
                  <a:srgbClr val="111111"/>
                </a:solidFill>
                <a:latin typeface="Arial"/>
                <a:cs typeface="Arial"/>
              </a:rPr>
              <a:t>Interactive</a:t>
            </a:r>
            <a:r>
              <a:rPr dirty="0" sz="2800" spc="-1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11111"/>
                </a:solidFill>
                <a:latin typeface="Arial"/>
                <a:cs typeface="Arial"/>
              </a:rPr>
              <a:t>Scenario</a:t>
            </a:r>
            <a:r>
              <a:rPr dirty="0" sz="2800" spc="-114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11111"/>
                </a:solidFill>
                <a:latin typeface="Arial"/>
                <a:cs typeface="Arial"/>
              </a:rPr>
              <a:t>Simulator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Month,</a:t>
            </a:r>
            <a:r>
              <a:rPr dirty="0" sz="2400" spc="-8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58606B"/>
                </a:solidFill>
                <a:latin typeface="Arial MT"/>
                <a:cs typeface="Arial MT"/>
              </a:rPr>
              <a:t>hour,</a:t>
            </a:r>
            <a:r>
              <a:rPr dirty="0" sz="2400" spc="-8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58606B"/>
                </a:solidFill>
                <a:latin typeface="Arial MT"/>
                <a:cs typeface="Arial MT"/>
              </a:rPr>
              <a:t>holiday,</a:t>
            </a:r>
            <a:r>
              <a:rPr dirty="0" sz="2400" spc="-5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day</a:t>
            </a:r>
            <a:r>
              <a:rPr dirty="0" sz="2400" spc="-8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type</a:t>
            </a:r>
            <a:r>
              <a:rPr dirty="0" sz="2400" spc="-8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400" spc="-8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58606B"/>
                </a:solidFill>
                <a:latin typeface="Arial MT"/>
                <a:cs typeface="Arial MT"/>
              </a:rPr>
              <a:t>category controls.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800" spc="-25" b="1">
                <a:solidFill>
                  <a:srgbClr val="111111"/>
                </a:solidFill>
                <a:latin typeface="Arial"/>
                <a:cs typeface="Arial"/>
              </a:rPr>
              <a:t>Route-</a:t>
            </a:r>
            <a:r>
              <a:rPr dirty="0" sz="2800" b="1">
                <a:solidFill>
                  <a:srgbClr val="111111"/>
                </a:solidFill>
                <a:latin typeface="Arial"/>
                <a:cs typeface="Arial"/>
              </a:rPr>
              <a:t>Capable</a:t>
            </a:r>
            <a:r>
              <a:rPr dirty="0" sz="28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11111"/>
                </a:solidFill>
                <a:latin typeface="Arial"/>
                <a:cs typeface="Arial"/>
              </a:rPr>
              <a:t>Cyber</a:t>
            </a:r>
            <a:r>
              <a:rPr dirty="0" sz="280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11111"/>
                </a:solidFill>
                <a:latin typeface="Arial"/>
                <a:cs typeface="Arial"/>
              </a:rPr>
              <a:t>Graph</a:t>
            </a:r>
            <a:endParaRPr sz="2800">
              <a:latin typeface="Arial"/>
              <a:cs typeface="Arial"/>
            </a:endParaRPr>
          </a:p>
          <a:p>
            <a:pPr marL="12700" marR="835660">
              <a:lnSpc>
                <a:spcPct val="100000"/>
              </a:lnSpc>
              <a:spcBef>
                <a:spcPts val="185"/>
              </a:spcBef>
            </a:pP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Stable</a:t>
            </a:r>
            <a:r>
              <a:rPr dirty="0" sz="2400" spc="-8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accused</a:t>
            </a:r>
            <a:r>
              <a:rPr dirty="0" sz="2400" spc="-9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IDs</a:t>
            </a:r>
            <a:r>
              <a:rPr dirty="0" sz="2400" spc="-9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linked</a:t>
            </a:r>
            <a:r>
              <a:rPr dirty="0" sz="2400" spc="-7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to</a:t>
            </a:r>
            <a:r>
              <a:rPr dirty="0" sz="2400" spc="-8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chronological</a:t>
            </a:r>
            <a:r>
              <a:rPr dirty="0" sz="24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58606B"/>
                </a:solidFill>
                <a:latin typeface="Arial MT"/>
                <a:cs typeface="Arial MT"/>
              </a:rPr>
              <a:t>station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activity</a:t>
            </a:r>
            <a:r>
              <a:rPr dirty="0" sz="2400" spc="-9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(Repeat</a:t>
            </a:r>
            <a:r>
              <a:rPr dirty="0" sz="2400" spc="-8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offender</a:t>
            </a:r>
            <a:r>
              <a:rPr dirty="0" sz="2400" spc="-9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station</a:t>
            </a:r>
            <a:r>
              <a:rPr dirty="0" sz="2400" spc="-8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58606B"/>
                </a:solidFill>
                <a:latin typeface="Arial MT"/>
                <a:cs typeface="Arial MT"/>
              </a:rPr>
              <a:t>routes).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800" b="1">
                <a:solidFill>
                  <a:srgbClr val="111111"/>
                </a:solidFill>
                <a:latin typeface="Arial"/>
                <a:cs typeface="Arial"/>
              </a:rPr>
              <a:t>Descriptive</a:t>
            </a:r>
            <a:r>
              <a:rPr dirty="0" sz="2800" spc="-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11111"/>
                </a:solidFill>
                <a:latin typeface="Arial"/>
                <a:cs typeface="Arial"/>
              </a:rPr>
              <a:t>Fairness</a:t>
            </a:r>
            <a:r>
              <a:rPr dirty="0" sz="2800" spc="-18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11111"/>
                </a:solidFill>
                <a:latin typeface="Arial"/>
                <a:cs typeface="Arial"/>
              </a:rPr>
              <a:t>Audit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Observed</a:t>
            </a:r>
            <a:r>
              <a:rPr dirty="0" sz="2200" spc="-6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synthetic</a:t>
            </a:r>
            <a:r>
              <a:rPr dirty="0" sz="2200" spc="-7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8606B"/>
                </a:solidFill>
                <a:latin typeface="Arial MT"/>
                <a:cs typeface="Arial MT"/>
              </a:rPr>
              <a:t>arrest-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rate</a:t>
            </a:r>
            <a:r>
              <a:rPr dirty="0" sz="2200" spc="-5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200" spc="-7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8606B"/>
                </a:solidFill>
                <a:latin typeface="Arial MT"/>
                <a:cs typeface="Arial MT"/>
              </a:rPr>
              <a:t>attention-</a:t>
            </a:r>
            <a:r>
              <a:rPr dirty="0" sz="2200" spc="-20">
                <a:solidFill>
                  <a:srgbClr val="58606B"/>
                </a:solidFill>
                <a:latin typeface="Arial MT"/>
                <a:cs typeface="Arial MT"/>
              </a:rPr>
              <a:t>zone 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comparisons</a:t>
            </a:r>
            <a:r>
              <a:rPr dirty="0" sz="2200" spc="-5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200" spc="-7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Social</a:t>
            </a:r>
            <a:r>
              <a:rPr dirty="0" sz="2200" spc="-8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economic</a:t>
            </a:r>
            <a:r>
              <a:rPr dirty="0" sz="2200" spc="-7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8606B"/>
                </a:solidFill>
                <a:latin typeface="Arial MT"/>
                <a:cs typeface="Arial MT"/>
              </a:rPr>
              <a:t>co-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relation</a:t>
            </a:r>
            <a:r>
              <a:rPr dirty="0" sz="2200" spc="-5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 b="1">
                <a:solidFill>
                  <a:srgbClr val="58606B"/>
                </a:solidFill>
                <a:latin typeface="Arial"/>
                <a:cs typeface="Arial"/>
              </a:rPr>
              <a:t>Metro</a:t>
            </a:r>
            <a:r>
              <a:rPr dirty="0" sz="2200" spc="-5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58606B"/>
                </a:solidFill>
                <a:latin typeface="Arial"/>
                <a:cs typeface="Arial"/>
              </a:rPr>
              <a:t>areas 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correlate</a:t>
            </a:r>
            <a:r>
              <a:rPr dirty="0" sz="2200" spc="-8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higher</a:t>
            </a:r>
            <a:r>
              <a:rPr dirty="0" sz="2200" spc="-9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8606B"/>
                </a:solidFill>
                <a:latin typeface="Arial MT"/>
                <a:cs typeface="Arial MT"/>
              </a:rPr>
              <a:t>with</a:t>
            </a:r>
            <a:r>
              <a:rPr dirty="0" sz="2200" spc="-6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200" spc="-10" b="1">
                <a:solidFill>
                  <a:srgbClr val="58606B"/>
                </a:solidFill>
                <a:latin typeface="Arial"/>
                <a:cs typeface="Arial"/>
              </a:rPr>
              <a:t>cyber,</a:t>
            </a:r>
            <a:r>
              <a:rPr dirty="0" sz="2200" spc="-6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58606B"/>
                </a:solidFill>
                <a:latin typeface="Arial"/>
                <a:cs typeface="Arial"/>
              </a:rPr>
              <a:t>financial,</a:t>
            </a:r>
            <a:r>
              <a:rPr dirty="0" sz="2200" spc="-6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58606B"/>
                </a:solidFill>
                <a:latin typeface="Arial"/>
                <a:cs typeface="Arial"/>
              </a:rPr>
              <a:t>and</a:t>
            </a:r>
            <a:r>
              <a:rPr dirty="0" sz="2200" spc="-7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58606B"/>
                </a:solidFill>
                <a:latin typeface="Arial"/>
                <a:cs typeface="Arial"/>
              </a:rPr>
              <a:t>property</a:t>
            </a:r>
            <a:r>
              <a:rPr dirty="0" sz="2200" spc="-7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58606B"/>
                </a:solidFill>
                <a:latin typeface="Arial"/>
                <a:cs typeface="Arial"/>
              </a:rPr>
              <a:t>crimes</a:t>
            </a:r>
            <a:r>
              <a:rPr dirty="0" sz="2200" spc="-10">
                <a:solidFill>
                  <a:srgbClr val="58606B"/>
                </a:solidFill>
                <a:latin typeface="Arial MT"/>
                <a:cs typeface="Arial MT"/>
              </a:rPr>
              <a:t>,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solidFill>
                  <a:srgbClr val="111111"/>
                </a:solidFill>
                <a:latin typeface="Arial"/>
                <a:cs typeface="Arial"/>
              </a:rPr>
              <a:t>Automated</a:t>
            </a:r>
            <a:r>
              <a:rPr dirty="0" sz="2800" spc="-8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11111"/>
                </a:solidFill>
                <a:latin typeface="Arial"/>
                <a:cs typeface="Arial"/>
              </a:rPr>
              <a:t>Sanity</a:t>
            </a:r>
            <a:r>
              <a:rPr dirty="0" sz="2800" spc="-9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11111"/>
                </a:solidFill>
                <a:latin typeface="Arial"/>
                <a:cs typeface="Arial"/>
              </a:rPr>
              <a:t>Suite</a:t>
            </a:r>
            <a:endParaRPr sz="2800">
              <a:latin typeface="Arial"/>
              <a:cs typeface="Arial"/>
            </a:endParaRPr>
          </a:p>
          <a:p>
            <a:pPr marL="12700" marR="1892935">
              <a:lnSpc>
                <a:spcPct val="100000"/>
              </a:lnSpc>
              <a:spcBef>
                <a:spcPts val="180"/>
              </a:spcBef>
            </a:pP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Automated</a:t>
            </a:r>
            <a:r>
              <a:rPr dirty="0" sz="2400" spc="-8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checks</a:t>
            </a:r>
            <a:r>
              <a:rPr dirty="0" sz="2400" spc="-8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for</a:t>
            </a:r>
            <a:r>
              <a:rPr dirty="0" sz="2400" spc="-8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coordinates,</a:t>
            </a:r>
            <a:r>
              <a:rPr dirty="0" sz="2400" spc="-7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58606B"/>
                </a:solidFill>
                <a:latin typeface="Arial MT"/>
                <a:cs typeface="Arial MT"/>
              </a:rPr>
              <a:t>labels,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networks</a:t>
            </a:r>
            <a:r>
              <a:rPr dirty="0" sz="2400" spc="-8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400" spc="-8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58606B"/>
                </a:solidFill>
                <a:latin typeface="Arial MT"/>
                <a:cs typeface="Arial MT"/>
              </a:rPr>
              <a:t>metrics.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1116" rIns="0" bIns="0" rtlCol="0" vert="horz">
            <a:spAutoFit/>
          </a:bodyPr>
          <a:lstStyle/>
          <a:p>
            <a:pPr marL="14097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0"/>
              <a:t> </a:t>
            </a:r>
            <a:r>
              <a:rPr dirty="0"/>
              <a:t>build</a:t>
            </a:r>
            <a:r>
              <a:rPr dirty="0" spc="-55"/>
              <a:t> </a:t>
            </a:r>
            <a:r>
              <a:rPr dirty="0"/>
              <a:t>flow</a:t>
            </a:r>
            <a:r>
              <a:rPr dirty="0" spc="-40"/>
              <a:t> </a:t>
            </a:r>
            <a:r>
              <a:rPr dirty="0"/>
              <a:t>moves</a:t>
            </a:r>
            <a:r>
              <a:rPr dirty="0" spc="-45"/>
              <a:t> </a:t>
            </a:r>
            <a:r>
              <a:rPr dirty="0"/>
              <a:t>from</a:t>
            </a:r>
            <a:r>
              <a:rPr dirty="0" spc="-25"/>
              <a:t> </a:t>
            </a:r>
            <a:r>
              <a:rPr dirty="0"/>
              <a:t>reproducible</a:t>
            </a:r>
            <a:r>
              <a:rPr dirty="0" spc="-75"/>
              <a:t> </a:t>
            </a:r>
            <a:r>
              <a:rPr dirty="0"/>
              <a:t>data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verified</a:t>
            </a:r>
            <a:r>
              <a:rPr dirty="0" spc="-45"/>
              <a:t> </a:t>
            </a:r>
            <a:r>
              <a:rPr dirty="0"/>
              <a:t>dashboard</a:t>
            </a:r>
            <a:r>
              <a:rPr dirty="0" spc="-60"/>
              <a:t> </a:t>
            </a:r>
            <a:r>
              <a:rPr dirty="0" spc="-10"/>
              <a:t>release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2846" y="3990975"/>
            <a:ext cx="11565890" cy="2781300"/>
            <a:chOff x="472846" y="3990975"/>
            <a:chExt cx="11565890" cy="2781300"/>
          </a:xfrm>
        </p:grpSpPr>
        <p:sp>
          <p:nvSpPr>
            <p:cNvPr id="4" name="object 4"/>
            <p:cNvSpPr/>
            <p:nvPr/>
          </p:nvSpPr>
          <p:spPr>
            <a:xfrm>
              <a:off x="3190875" y="5219699"/>
              <a:ext cx="8848090" cy="381000"/>
            </a:xfrm>
            <a:custGeom>
              <a:avLst/>
              <a:gdLst/>
              <a:ahLst/>
              <a:cxnLst/>
              <a:rect l="l" t="t" r="r" b="b"/>
              <a:pathLst>
                <a:path w="8848090" h="381000">
                  <a:moveTo>
                    <a:pt x="461772" y="190500"/>
                  </a:moveTo>
                  <a:lnTo>
                    <a:pt x="328422" y="0"/>
                  </a:lnTo>
                  <a:lnTo>
                    <a:pt x="195072" y="0"/>
                  </a:lnTo>
                  <a:lnTo>
                    <a:pt x="308419" y="161925"/>
                  </a:lnTo>
                  <a:lnTo>
                    <a:pt x="0" y="161925"/>
                  </a:lnTo>
                  <a:lnTo>
                    <a:pt x="0" y="219075"/>
                  </a:lnTo>
                  <a:lnTo>
                    <a:pt x="308419" y="219075"/>
                  </a:lnTo>
                  <a:lnTo>
                    <a:pt x="195072" y="381000"/>
                  </a:lnTo>
                  <a:lnTo>
                    <a:pt x="328422" y="381000"/>
                  </a:lnTo>
                  <a:lnTo>
                    <a:pt x="461772" y="190500"/>
                  </a:lnTo>
                  <a:close/>
                </a:path>
                <a:path w="8848090" h="381000">
                  <a:moveTo>
                    <a:pt x="3243326" y="190500"/>
                  </a:moveTo>
                  <a:lnTo>
                    <a:pt x="3109976" y="0"/>
                  </a:lnTo>
                  <a:lnTo>
                    <a:pt x="2976626" y="0"/>
                  </a:lnTo>
                  <a:lnTo>
                    <a:pt x="3089973" y="161925"/>
                  </a:lnTo>
                  <a:lnTo>
                    <a:pt x="2809875" y="161925"/>
                  </a:lnTo>
                  <a:lnTo>
                    <a:pt x="2809875" y="219075"/>
                  </a:lnTo>
                  <a:lnTo>
                    <a:pt x="3089973" y="219075"/>
                  </a:lnTo>
                  <a:lnTo>
                    <a:pt x="2976626" y="381000"/>
                  </a:lnTo>
                  <a:lnTo>
                    <a:pt x="3109976" y="381000"/>
                  </a:lnTo>
                  <a:lnTo>
                    <a:pt x="3243326" y="190500"/>
                  </a:lnTo>
                  <a:close/>
                </a:path>
                <a:path w="8848090" h="381000">
                  <a:moveTo>
                    <a:pt x="6109081" y="190500"/>
                  </a:moveTo>
                  <a:lnTo>
                    <a:pt x="5975731" y="0"/>
                  </a:lnTo>
                  <a:lnTo>
                    <a:pt x="5842381" y="0"/>
                  </a:lnTo>
                  <a:lnTo>
                    <a:pt x="5955728" y="161925"/>
                  </a:lnTo>
                  <a:lnTo>
                    <a:pt x="5619750" y="161925"/>
                  </a:lnTo>
                  <a:lnTo>
                    <a:pt x="5619750" y="219075"/>
                  </a:lnTo>
                  <a:lnTo>
                    <a:pt x="5955728" y="219075"/>
                  </a:lnTo>
                  <a:lnTo>
                    <a:pt x="5842381" y="381000"/>
                  </a:lnTo>
                  <a:lnTo>
                    <a:pt x="5975731" y="381000"/>
                  </a:lnTo>
                  <a:lnTo>
                    <a:pt x="6109081" y="190500"/>
                  </a:lnTo>
                  <a:close/>
                </a:path>
                <a:path w="8848090" h="381000">
                  <a:moveTo>
                    <a:pt x="8847582" y="190500"/>
                  </a:moveTo>
                  <a:lnTo>
                    <a:pt x="8714232" y="0"/>
                  </a:lnTo>
                  <a:lnTo>
                    <a:pt x="8580882" y="0"/>
                  </a:lnTo>
                  <a:lnTo>
                    <a:pt x="8694229" y="161925"/>
                  </a:lnTo>
                  <a:lnTo>
                    <a:pt x="8429625" y="161925"/>
                  </a:lnTo>
                  <a:lnTo>
                    <a:pt x="8429625" y="219075"/>
                  </a:lnTo>
                  <a:lnTo>
                    <a:pt x="8694229" y="219075"/>
                  </a:lnTo>
                  <a:lnTo>
                    <a:pt x="8580882" y="381000"/>
                  </a:lnTo>
                  <a:lnTo>
                    <a:pt x="8714232" y="381000"/>
                  </a:lnTo>
                  <a:lnTo>
                    <a:pt x="8847582" y="190500"/>
                  </a:lnTo>
                  <a:close/>
                </a:path>
              </a:pathLst>
            </a:custGeom>
            <a:solidFill>
              <a:srgbClr val="2066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82371" y="4000500"/>
              <a:ext cx="2708910" cy="2762250"/>
            </a:xfrm>
            <a:custGeom>
              <a:avLst/>
              <a:gdLst/>
              <a:ahLst/>
              <a:cxnLst/>
              <a:rect l="l" t="t" r="r" b="b"/>
              <a:pathLst>
                <a:path w="2708910" h="2762250">
                  <a:moveTo>
                    <a:pt x="0" y="2762250"/>
                  </a:moveTo>
                  <a:lnTo>
                    <a:pt x="2708529" y="2762250"/>
                  </a:lnTo>
                  <a:lnTo>
                    <a:pt x="2708529" y="0"/>
                  </a:lnTo>
                  <a:lnTo>
                    <a:pt x="0" y="0"/>
                  </a:lnTo>
                  <a:lnTo>
                    <a:pt x="0" y="2762250"/>
                  </a:lnTo>
                  <a:close/>
                </a:path>
              </a:pathLst>
            </a:custGeom>
            <a:ln w="19050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2371" y="4000500"/>
              <a:ext cx="2708910" cy="114300"/>
            </a:xfrm>
            <a:custGeom>
              <a:avLst/>
              <a:gdLst/>
              <a:ahLst/>
              <a:cxnLst/>
              <a:rect l="l" t="t" r="r" b="b"/>
              <a:pathLst>
                <a:path w="2708910" h="114300">
                  <a:moveTo>
                    <a:pt x="2708529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708529" y="114300"/>
                  </a:lnTo>
                  <a:lnTo>
                    <a:pt x="2708529" y="0"/>
                  </a:lnTo>
                  <a:close/>
                </a:path>
              </a:pathLst>
            </a:custGeom>
            <a:solidFill>
              <a:srgbClr val="00A99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12087225" y="3990975"/>
            <a:ext cx="2814955" cy="2781300"/>
            <a:chOff x="12087225" y="3990975"/>
            <a:chExt cx="2814955" cy="2781300"/>
          </a:xfrm>
        </p:grpSpPr>
        <p:sp>
          <p:nvSpPr>
            <p:cNvPr id="8" name="object 8"/>
            <p:cNvSpPr/>
            <p:nvPr/>
          </p:nvSpPr>
          <p:spPr>
            <a:xfrm>
              <a:off x="14430375" y="5219699"/>
              <a:ext cx="471805" cy="381000"/>
            </a:xfrm>
            <a:custGeom>
              <a:avLst/>
              <a:gdLst/>
              <a:ahLst/>
              <a:cxnLst/>
              <a:rect l="l" t="t" r="r" b="b"/>
              <a:pathLst>
                <a:path w="471805" h="381000">
                  <a:moveTo>
                    <a:pt x="471678" y="190500"/>
                  </a:moveTo>
                  <a:lnTo>
                    <a:pt x="338328" y="0"/>
                  </a:lnTo>
                  <a:lnTo>
                    <a:pt x="204978" y="0"/>
                  </a:lnTo>
                  <a:lnTo>
                    <a:pt x="318325" y="161925"/>
                  </a:lnTo>
                  <a:lnTo>
                    <a:pt x="0" y="161925"/>
                  </a:lnTo>
                  <a:lnTo>
                    <a:pt x="0" y="219075"/>
                  </a:lnTo>
                  <a:lnTo>
                    <a:pt x="318325" y="219075"/>
                  </a:lnTo>
                  <a:lnTo>
                    <a:pt x="204978" y="381000"/>
                  </a:lnTo>
                  <a:lnTo>
                    <a:pt x="338328" y="381000"/>
                  </a:lnTo>
                  <a:lnTo>
                    <a:pt x="471678" y="190500"/>
                  </a:lnTo>
                  <a:close/>
                </a:path>
              </a:pathLst>
            </a:custGeom>
            <a:solidFill>
              <a:srgbClr val="2066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096750" y="4000500"/>
              <a:ext cx="2333625" cy="2762250"/>
            </a:xfrm>
            <a:custGeom>
              <a:avLst/>
              <a:gdLst/>
              <a:ahLst/>
              <a:cxnLst/>
              <a:rect l="l" t="t" r="r" b="b"/>
              <a:pathLst>
                <a:path w="2333625" h="2762250">
                  <a:moveTo>
                    <a:pt x="0" y="2762250"/>
                  </a:moveTo>
                  <a:lnTo>
                    <a:pt x="2333625" y="2762250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2762250"/>
                  </a:lnTo>
                  <a:close/>
                </a:path>
              </a:pathLst>
            </a:custGeom>
            <a:ln w="19050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096750" y="4000500"/>
              <a:ext cx="2333625" cy="114300"/>
            </a:xfrm>
            <a:custGeom>
              <a:avLst/>
              <a:gdLst/>
              <a:ahLst/>
              <a:cxnLst/>
              <a:rect l="l" t="t" r="r" b="b"/>
              <a:pathLst>
                <a:path w="2333625" h="114300">
                  <a:moveTo>
                    <a:pt x="233362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333625" y="1143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00A9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91896" y="4191127"/>
            <a:ext cx="2689860" cy="1412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0175">
              <a:lnSpc>
                <a:spcPts val="3250"/>
              </a:lnSpc>
              <a:spcBef>
                <a:spcPts val="105"/>
              </a:spcBef>
            </a:pPr>
            <a:r>
              <a:rPr dirty="0" sz="2850" spc="-25" b="1">
                <a:solidFill>
                  <a:srgbClr val="00A99D"/>
                </a:solidFill>
                <a:latin typeface="Arial"/>
                <a:cs typeface="Arial"/>
              </a:rPr>
              <a:t>01</a:t>
            </a:r>
            <a:endParaRPr sz="2850">
              <a:latin typeface="Arial"/>
              <a:cs typeface="Arial"/>
            </a:endParaRPr>
          </a:p>
          <a:p>
            <a:pPr marL="99695">
              <a:lnSpc>
                <a:spcPts val="2230"/>
              </a:lnSpc>
            </a:pP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Generate</a:t>
            </a:r>
            <a:r>
              <a:rPr dirty="0" sz="2000" spc="-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232410">
              <a:lnSpc>
                <a:spcPct val="100000"/>
              </a:lnSpc>
              <a:spcBef>
                <a:spcPts val="880"/>
              </a:spcBef>
            </a:pP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80K</a:t>
            </a:r>
            <a:r>
              <a:rPr dirty="0" sz="1900" spc="-2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FIRs</a:t>
            </a:r>
            <a:r>
              <a:rPr dirty="0" sz="1900" spc="-2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+</a:t>
            </a:r>
            <a:r>
              <a:rPr dirty="0" sz="1900" spc="-4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58606B"/>
                </a:solidFill>
                <a:latin typeface="Arial"/>
                <a:cs typeface="Arial"/>
              </a:rPr>
              <a:t>164</a:t>
            </a:r>
            <a:endParaRPr sz="1900">
              <a:latin typeface="Arial"/>
              <a:cs typeface="Arial"/>
            </a:endParaRPr>
          </a:p>
          <a:p>
            <a:pPr marL="232410">
              <a:lnSpc>
                <a:spcPct val="100000"/>
              </a:lnSpc>
            </a:pP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Station</a:t>
            </a:r>
            <a:r>
              <a:rPr dirty="0" sz="1900" spc="-6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registry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57600" y="3990975"/>
            <a:ext cx="2352675" cy="2781300"/>
            <a:chOff x="3657600" y="3990975"/>
            <a:chExt cx="2352675" cy="2781300"/>
          </a:xfrm>
        </p:grpSpPr>
        <p:sp>
          <p:nvSpPr>
            <p:cNvPr id="13" name="object 13"/>
            <p:cNvSpPr/>
            <p:nvPr/>
          </p:nvSpPr>
          <p:spPr>
            <a:xfrm>
              <a:off x="3667125" y="4000500"/>
              <a:ext cx="2333625" cy="2762250"/>
            </a:xfrm>
            <a:custGeom>
              <a:avLst/>
              <a:gdLst/>
              <a:ahLst/>
              <a:cxnLst/>
              <a:rect l="l" t="t" r="r" b="b"/>
              <a:pathLst>
                <a:path w="2333625" h="2762250">
                  <a:moveTo>
                    <a:pt x="0" y="2762250"/>
                  </a:moveTo>
                  <a:lnTo>
                    <a:pt x="2333625" y="2762250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2762250"/>
                  </a:lnTo>
                  <a:close/>
                </a:path>
              </a:pathLst>
            </a:custGeom>
            <a:ln w="19050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67125" y="4000500"/>
              <a:ext cx="2333625" cy="114300"/>
            </a:xfrm>
            <a:custGeom>
              <a:avLst/>
              <a:gdLst/>
              <a:ahLst/>
              <a:cxnLst/>
              <a:rect l="l" t="t" r="r" b="b"/>
              <a:pathLst>
                <a:path w="2333625" h="114300">
                  <a:moveTo>
                    <a:pt x="233362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333625" y="1143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2066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676650" y="4108354"/>
            <a:ext cx="2314575" cy="207454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445"/>
              </a:spcBef>
            </a:pPr>
            <a:r>
              <a:rPr dirty="0" sz="2850" spc="-25" b="1">
                <a:solidFill>
                  <a:srgbClr val="2066F3"/>
                </a:solidFill>
                <a:latin typeface="Arial"/>
                <a:cs typeface="Arial"/>
              </a:rPr>
              <a:t>02</a:t>
            </a:r>
            <a:endParaRPr sz="2850">
              <a:latin typeface="Arial"/>
              <a:cs typeface="Arial"/>
            </a:endParaRPr>
          </a:p>
          <a:p>
            <a:pPr algn="just" marL="63500">
              <a:lnSpc>
                <a:spcPct val="100000"/>
              </a:lnSpc>
              <a:spcBef>
                <a:spcPts val="245"/>
              </a:spcBef>
            </a:pP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Clean</a:t>
            </a:r>
            <a:r>
              <a:rPr dirty="0" sz="20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&amp;</a:t>
            </a:r>
            <a:r>
              <a:rPr dirty="0" sz="2000" spc="-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Validate</a:t>
            </a:r>
            <a:endParaRPr sz="2000">
              <a:latin typeface="Arial"/>
              <a:cs typeface="Arial"/>
            </a:endParaRPr>
          </a:p>
          <a:p>
            <a:pPr algn="just" marL="310515" marR="384175">
              <a:lnSpc>
                <a:spcPct val="100000"/>
              </a:lnSpc>
              <a:spcBef>
                <a:spcPts val="605"/>
              </a:spcBef>
            </a:pP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Data</a:t>
            </a:r>
            <a:r>
              <a:rPr dirty="0" sz="1900" spc="-3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Schema,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Dates,</a:t>
            </a:r>
            <a:r>
              <a:rPr dirty="0" sz="1900" spc="-3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Unique </a:t>
            </a:r>
            <a:r>
              <a:rPr dirty="0" sz="1900" spc="-20" b="1">
                <a:solidFill>
                  <a:srgbClr val="58606B"/>
                </a:solidFill>
                <a:latin typeface="Arial"/>
                <a:cs typeface="Arial"/>
              </a:rPr>
              <a:t>IDs,</a:t>
            </a:r>
            <a:endParaRPr sz="1900">
              <a:latin typeface="Arial"/>
              <a:cs typeface="Arial"/>
            </a:endParaRPr>
          </a:p>
          <a:p>
            <a:pPr marL="310515">
              <a:lnSpc>
                <a:spcPct val="100000"/>
              </a:lnSpc>
            </a:pP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Coordinates.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77000" y="4000500"/>
            <a:ext cx="2333625" cy="114300"/>
          </a:xfrm>
          <a:custGeom>
            <a:avLst/>
            <a:gdLst/>
            <a:ahLst/>
            <a:cxnLst/>
            <a:rect l="l" t="t" r="r" b="b"/>
            <a:pathLst>
              <a:path w="2333625" h="114300">
                <a:moveTo>
                  <a:pt x="2333625" y="0"/>
                </a:moveTo>
                <a:lnTo>
                  <a:pt x="0" y="0"/>
                </a:lnTo>
                <a:lnTo>
                  <a:pt x="0" y="114300"/>
                </a:lnTo>
                <a:lnTo>
                  <a:pt x="2333625" y="114300"/>
                </a:lnTo>
                <a:lnTo>
                  <a:pt x="2333625" y="0"/>
                </a:lnTo>
                <a:close/>
              </a:path>
            </a:pathLst>
          </a:custGeom>
          <a:solidFill>
            <a:srgbClr val="5728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434201" y="4000500"/>
            <a:ext cx="2333625" cy="2762250"/>
          </a:xfrm>
          <a:prstGeom prst="rect">
            <a:avLst/>
          </a:prstGeom>
          <a:ln w="19050">
            <a:solidFill>
              <a:srgbClr val="D6DBDF"/>
            </a:solidFill>
          </a:ln>
        </p:spPr>
        <p:txBody>
          <a:bodyPr wrap="square" lIns="0" tIns="177800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1400"/>
              </a:spcBef>
            </a:pPr>
            <a:r>
              <a:rPr dirty="0" sz="2850" spc="-25" b="1">
                <a:solidFill>
                  <a:srgbClr val="5728E4"/>
                </a:solidFill>
                <a:latin typeface="Arial"/>
                <a:cs typeface="Arial"/>
              </a:rPr>
              <a:t>03</a:t>
            </a:r>
            <a:endParaRPr sz="2850">
              <a:latin typeface="Arial"/>
              <a:cs typeface="Arial"/>
            </a:endParaRPr>
          </a:p>
          <a:p>
            <a:pPr marL="165735">
              <a:lnSpc>
                <a:spcPct val="100000"/>
              </a:lnSpc>
              <a:spcBef>
                <a:spcPts val="50"/>
              </a:spcBef>
            </a:pP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Forecast</a:t>
            </a:r>
            <a:r>
              <a:rPr dirty="0" sz="200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Engine</a:t>
            </a:r>
            <a:endParaRPr sz="2000">
              <a:latin typeface="Arial"/>
              <a:cs typeface="Arial"/>
            </a:endParaRPr>
          </a:p>
          <a:p>
            <a:pPr marL="363220" marR="300355">
              <a:lnSpc>
                <a:spcPct val="100000"/>
              </a:lnSpc>
              <a:spcBef>
                <a:spcPts val="695"/>
              </a:spcBef>
            </a:pP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Count</a:t>
            </a:r>
            <a:r>
              <a:rPr dirty="0" sz="1900" spc="-4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50" b="1">
                <a:solidFill>
                  <a:srgbClr val="58606B"/>
                </a:solidFill>
                <a:latin typeface="Arial"/>
                <a:cs typeface="Arial"/>
              </a:rPr>
              <a:t>+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Serious</a:t>
            </a:r>
            <a:r>
              <a:rPr dirty="0" sz="19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58606B"/>
                </a:solidFill>
                <a:latin typeface="Arial"/>
                <a:cs typeface="Arial"/>
              </a:rPr>
              <a:t>model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Heads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277350" y="3990975"/>
            <a:ext cx="2352675" cy="2781300"/>
            <a:chOff x="9277350" y="3990975"/>
            <a:chExt cx="2352675" cy="2781300"/>
          </a:xfrm>
        </p:grpSpPr>
        <p:sp>
          <p:nvSpPr>
            <p:cNvPr id="19" name="object 19"/>
            <p:cNvSpPr/>
            <p:nvPr/>
          </p:nvSpPr>
          <p:spPr>
            <a:xfrm>
              <a:off x="9286875" y="4000500"/>
              <a:ext cx="2333625" cy="2762250"/>
            </a:xfrm>
            <a:custGeom>
              <a:avLst/>
              <a:gdLst/>
              <a:ahLst/>
              <a:cxnLst/>
              <a:rect l="l" t="t" r="r" b="b"/>
              <a:pathLst>
                <a:path w="2333625" h="2762250">
                  <a:moveTo>
                    <a:pt x="0" y="2762250"/>
                  </a:moveTo>
                  <a:lnTo>
                    <a:pt x="2333625" y="2762250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2762250"/>
                  </a:lnTo>
                  <a:close/>
                </a:path>
              </a:pathLst>
            </a:custGeom>
            <a:ln w="19050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286875" y="4000500"/>
              <a:ext cx="2333625" cy="114300"/>
            </a:xfrm>
            <a:custGeom>
              <a:avLst/>
              <a:gdLst/>
              <a:ahLst/>
              <a:cxnLst/>
              <a:rect l="l" t="t" r="r" b="b"/>
              <a:pathLst>
                <a:path w="2333625" h="114300">
                  <a:moveTo>
                    <a:pt x="233362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333625" y="1143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F1A9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296400" y="4164838"/>
            <a:ext cx="2314575" cy="1728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2550">
              <a:lnSpc>
                <a:spcPts val="3345"/>
              </a:lnSpc>
              <a:spcBef>
                <a:spcPts val="105"/>
              </a:spcBef>
            </a:pPr>
            <a:r>
              <a:rPr dirty="0" sz="2850" spc="-25" b="1">
                <a:solidFill>
                  <a:srgbClr val="F1A900"/>
                </a:solidFill>
                <a:latin typeface="Arial"/>
                <a:cs typeface="Arial"/>
              </a:rPr>
              <a:t>04</a:t>
            </a:r>
            <a:endParaRPr sz="2850">
              <a:latin typeface="Arial"/>
              <a:cs typeface="Arial"/>
            </a:endParaRPr>
          </a:p>
          <a:p>
            <a:pPr algn="just" marL="73025">
              <a:lnSpc>
                <a:spcPts val="2325"/>
              </a:lnSpc>
            </a:pP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Compute</a:t>
            </a:r>
            <a:r>
              <a:rPr dirty="0" sz="20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endParaRPr sz="2000">
              <a:latin typeface="Arial"/>
              <a:cs typeface="Arial"/>
            </a:endParaRPr>
          </a:p>
          <a:p>
            <a:pPr algn="just" marL="311150" marR="419734">
              <a:lnSpc>
                <a:spcPct val="100000"/>
              </a:lnSpc>
              <a:spcBef>
                <a:spcPts val="890"/>
              </a:spcBef>
            </a:pP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Clusters,</a:t>
            </a:r>
            <a:r>
              <a:rPr dirty="0" sz="1900" spc="-8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58606B"/>
                </a:solidFill>
                <a:latin typeface="Arial"/>
                <a:cs typeface="Arial"/>
              </a:rPr>
              <a:t>EB, </a:t>
            </a:r>
            <a:r>
              <a:rPr dirty="0" sz="1900" spc="-20" b="1">
                <a:solidFill>
                  <a:srgbClr val="58606B"/>
                </a:solidFill>
                <a:latin typeface="Arial"/>
                <a:cs typeface="Arial"/>
              </a:rPr>
              <a:t>PAI,</a:t>
            </a:r>
            <a:r>
              <a:rPr dirty="0" sz="1900" spc="-8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Fairness, Cyber</a:t>
            </a:r>
            <a:endParaRPr sz="1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106275" y="4164838"/>
            <a:ext cx="2314575" cy="1728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2550">
              <a:lnSpc>
                <a:spcPts val="3370"/>
              </a:lnSpc>
              <a:spcBef>
                <a:spcPts val="105"/>
              </a:spcBef>
            </a:pPr>
            <a:r>
              <a:rPr dirty="0" sz="2850" spc="-25" b="1">
                <a:solidFill>
                  <a:srgbClr val="00A99D"/>
                </a:solidFill>
                <a:latin typeface="Arial"/>
                <a:cs typeface="Arial"/>
              </a:rPr>
              <a:t>05</a:t>
            </a:r>
            <a:endParaRPr sz="2850">
              <a:latin typeface="Arial"/>
              <a:cs typeface="Arial"/>
            </a:endParaRPr>
          </a:p>
          <a:p>
            <a:pPr marL="135255">
              <a:lnSpc>
                <a:spcPts val="2350"/>
              </a:lnSpc>
            </a:pP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Enrich</a:t>
            </a:r>
            <a:endParaRPr sz="2000">
              <a:latin typeface="Arial"/>
              <a:cs typeface="Arial"/>
            </a:endParaRPr>
          </a:p>
          <a:p>
            <a:pPr marL="311150" marR="467995">
              <a:lnSpc>
                <a:spcPct val="100000"/>
              </a:lnSpc>
              <a:spcBef>
                <a:spcPts val="840"/>
              </a:spcBef>
            </a:pP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Profiles</a:t>
            </a:r>
            <a:r>
              <a:rPr dirty="0" sz="1900" spc="-5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58606B"/>
                </a:solidFill>
                <a:latin typeface="Arial"/>
                <a:cs typeface="Arial"/>
              </a:rPr>
              <a:t>and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Scenario Assumptions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897100" y="3990975"/>
            <a:ext cx="2352675" cy="2781300"/>
            <a:chOff x="14897100" y="3990975"/>
            <a:chExt cx="2352675" cy="2781300"/>
          </a:xfrm>
        </p:grpSpPr>
        <p:sp>
          <p:nvSpPr>
            <p:cNvPr id="24" name="object 24"/>
            <p:cNvSpPr/>
            <p:nvPr/>
          </p:nvSpPr>
          <p:spPr>
            <a:xfrm>
              <a:off x="14906625" y="4000500"/>
              <a:ext cx="2333625" cy="2762250"/>
            </a:xfrm>
            <a:custGeom>
              <a:avLst/>
              <a:gdLst/>
              <a:ahLst/>
              <a:cxnLst/>
              <a:rect l="l" t="t" r="r" b="b"/>
              <a:pathLst>
                <a:path w="2333625" h="2762250">
                  <a:moveTo>
                    <a:pt x="0" y="2762250"/>
                  </a:moveTo>
                  <a:lnTo>
                    <a:pt x="2333625" y="2762250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2762250"/>
                  </a:lnTo>
                  <a:close/>
                </a:path>
              </a:pathLst>
            </a:custGeom>
            <a:ln w="19050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906625" y="4000500"/>
              <a:ext cx="2333625" cy="114300"/>
            </a:xfrm>
            <a:custGeom>
              <a:avLst/>
              <a:gdLst/>
              <a:ahLst/>
              <a:cxnLst/>
              <a:rect l="l" t="t" r="r" b="b"/>
              <a:pathLst>
                <a:path w="2333625" h="114300">
                  <a:moveTo>
                    <a:pt x="233362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333625" y="1143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178B6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4916150" y="4164838"/>
            <a:ext cx="2314575" cy="1728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3185">
              <a:lnSpc>
                <a:spcPts val="3279"/>
              </a:lnSpc>
              <a:spcBef>
                <a:spcPts val="105"/>
              </a:spcBef>
            </a:pPr>
            <a:r>
              <a:rPr dirty="0" sz="2850" spc="-25" b="1">
                <a:solidFill>
                  <a:srgbClr val="178B62"/>
                </a:solidFill>
                <a:latin typeface="Arial"/>
                <a:cs typeface="Arial"/>
              </a:rPr>
              <a:t>06</a:t>
            </a:r>
            <a:endParaRPr sz="2850">
              <a:latin typeface="Arial"/>
              <a:cs typeface="Arial"/>
            </a:endParaRPr>
          </a:p>
          <a:p>
            <a:pPr marL="78740">
              <a:lnSpc>
                <a:spcPts val="2260"/>
              </a:lnSpc>
            </a:pP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Release</a:t>
            </a:r>
            <a:endParaRPr sz="2000">
              <a:latin typeface="Arial"/>
              <a:cs typeface="Arial"/>
            </a:endParaRPr>
          </a:p>
          <a:p>
            <a:pPr marL="311785">
              <a:lnSpc>
                <a:spcPct val="100000"/>
              </a:lnSpc>
              <a:spcBef>
                <a:spcPts val="1019"/>
              </a:spcBef>
            </a:pP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HTML,</a:t>
            </a:r>
            <a:endParaRPr sz="1900">
              <a:latin typeface="Arial"/>
              <a:cs typeface="Arial"/>
            </a:endParaRPr>
          </a:p>
          <a:p>
            <a:pPr marL="311785" marR="411480">
              <a:lnSpc>
                <a:spcPct val="100000"/>
              </a:lnSpc>
            </a:pP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Reports,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sanity</a:t>
            </a:r>
            <a:r>
              <a:rPr dirty="0" sz="19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checks</a:t>
            </a:r>
            <a:endParaRPr sz="1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2371" y="9357753"/>
            <a:ext cx="10909935" cy="55245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run_all.bat</a:t>
            </a:r>
            <a:r>
              <a:rPr dirty="0" sz="24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/</a:t>
            </a:r>
            <a:r>
              <a:rPr dirty="0" sz="24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run_all.sh</a:t>
            </a:r>
            <a:r>
              <a:rPr dirty="0" sz="2400" spc="-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dirty="0" sz="240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reproduces</a:t>
            </a:r>
            <a:r>
              <a:rPr dirty="0" sz="24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2400" spc="-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complete</a:t>
            </a:r>
            <a:r>
              <a:rPr dirty="0" sz="2400" spc="-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sequence</a:t>
            </a:r>
            <a:r>
              <a:rPr dirty="0" sz="24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dirty="0" sz="240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one</a:t>
            </a:r>
            <a:r>
              <a:rPr dirty="0" sz="2400" spc="-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11111"/>
                </a:solidFill>
                <a:latin typeface="Arial"/>
                <a:cs typeface="Arial"/>
              </a:rPr>
              <a:t>click.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0174" y="3067049"/>
            <a:ext cx="5346065" cy="559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10" b="1">
                <a:solidFill>
                  <a:srgbClr val="375F92"/>
                </a:solidFill>
                <a:latin typeface="Calibri"/>
                <a:cs typeface="Calibri"/>
              </a:rPr>
              <a:t>6-</a:t>
            </a:r>
            <a:r>
              <a:rPr dirty="0" sz="3500" spc="-60" b="1">
                <a:solidFill>
                  <a:srgbClr val="375F92"/>
                </a:solidFill>
                <a:latin typeface="Calibri"/>
                <a:cs typeface="Calibri"/>
              </a:rPr>
              <a:t>STAGE</a:t>
            </a:r>
            <a:r>
              <a:rPr dirty="0" sz="3500" spc="-7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3500" b="1">
                <a:solidFill>
                  <a:srgbClr val="375F92"/>
                </a:solidFill>
                <a:latin typeface="Calibri"/>
                <a:cs typeface="Calibri"/>
              </a:rPr>
              <a:t>PIPELINE</a:t>
            </a:r>
            <a:r>
              <a:rPr dirty="0" sz="3500" spc="-55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3500" spc="-10" b="1">
                <a:solidFill>
                  <a:srgbClr val="375F92"/>
                </a:solidFill>
                <a:latin typeface="Calibri"/>
                <a:cs typeface="Calibri"/>
              </a:rPr>
              <a:t>SEQUENCE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9526" y="8761272"/>
            <a:ext cx="6470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375F92"/>
                </a:solidFill>
                <a:latin typeface="Calibri"/>
                <a:cs typeface="Calibri"/>
              </a:rPr>
              <a:t>Note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8653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/>
              <a:t>4</a:t>
            </a:r>
            <a:r>
              <a:rPr dirty="0" spc="-55"/>
              <a:t> </a:t>
            </a:r>
            <a:r>
              <a:rPr dirty="0"/>
              <a:t>-</a:t>
            </a:r>
            <a:r>
              <a:rPr dirty="0" spc="-50"/>
              <a:t> </a:t>
            </a:r>
            <a:r>
              <a:rPr dirty="0"/>
              <a:t>STEP</a:t>
            </a:r>
            <a:r>
              <a:rPr dirty="0" spc="-95"/>
              <a:t> </a:t>
            </a:r>
            <a:r>
              <a:rPr dirty="0" spc="-25"/>
              <a:t>OPERATOR</a:t>
            </a:r>
            <a:r>
              <a:rPr dirty="0" spc="-50"/>
              <a:t> </a:t>
            </a:r>
            <a:r>
              <a:rPr dirty="0" spc="-10"/>
              <a:t>JOURNEY</a:t>
            </a:r>
          </a:p>
        </p:txBody>
      </p:sp>
      <p:sp>
        <p:nvSpPr>
          <p:cNvPr id="3" name="object 3"/>
          <p:cNvSpPr/>
          <p:nvPr/>
        </p:nvSpPr>
        <p:spPr>
          <a:xfrm>
            <a:off x="1143000" y="333375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5" y="3130"/>
                </a:lnTo>
                <a:lnTo>
                  <a:pt x="251751" y="12250"/>
                </a:lnTo>
                <a:lnTo>
                  <a:pt x="209436" y="26949"/>
                </a:lnTo>
                <a:lnTo>
                  <a:pt x="169841" y="46820"/>
                </a:lnTo>
                <a:lnTo>
                  <a:pt x="133373" y="71454"/>
                </a:lnTo>
                <a:lnTo>
                  <a:pt x="100441" y="100441"/>
                </a:lnTo>
                <a:lnTo>
                  <a:pt x="71454" y="133373"/>
                </a:lnTo>
                <a:lnTo>
                  <a:pt x="46820" y="169841"/>
                </a:lnTo>
                <a:lnTo>
                  <a:pt x="26949" y="209436"/>
                </a:lnTo>
                <a:lnTo>
                  <a:pt x="12250" y="251751"/>
                </a:lnTo>
                <a:lnTo>
                  <a:pt x="3130" y="296375"/>
                </a:lnTo>
                <a:lnTo>
                  <a:pt x="0" y="342900"/>
                </a:lnTo>
                <a:lnTo>
                  <a:pt x="3130" y="389424"/>
                </a:lnTo>
                <a:lnTo>
                  <a:pt x="12250" y="434048"/>
                </a:lnTo>
                <a:lnTo>
                  <a:pt x="26949" y="476363"/>
                </a:lnTo>
                <a:lnTo>
                  <a:pt x="46820" y="515958"/>
                </a:lnTo>
                <a:lnTo>
                  <a:pt x="71454" y="552426"/>
                </a:lnTo>
                <a:lnTo>
                  <a:pt x="100441" y="585358"/>
                </a:lnTo>
                <a:lnTo>
                  <a:pt x="133373" y="614345"/>
                </a:lnTo>
                <a:lnTo>
                  <a:pt x="169841" y="638979"/>
                </a:lnTo>
                <a:lnTo>
                  <a:pt x="209436" y="658850"/>
                </a:lnTo>
                <a:lnTo>
                  <a:pt x="251751" y="673549"/>
                </a:lnTo>
                <a:lnTo>
                  <a:pt x="296375" y="682669"/>
                </a:lnTo>
                <a:lnTo>
                  <a:pt x="342900" y="685800"/>
                </a:lnTo>
                <a:lnTo>
                  <a:pt x="389424" y="682669"/>
                </a:lnTo>
                <a:lnTo>
                  <a:pt x="434048" y="673549"/>
                </a:lnTo>
                <a:lnTo>
                  <a:pt x="476363" y="658850"/>
                </a:lnTo>
                <a:lnTo>
                  <a:pt x="515958" y="638979"/>
                </a:lnTo>
                <a:lnTo>
                  <a:pt x="552426" y="614345"/>
                </a:lnTo>
                <a:lnTo>
                  <a:pt x="585358" y="585358"/>
                </a:lnTo>
                <a:lnTo>
                  <a:pt x="614345" y="552426"/>
                </a:lnTo>
                <a:lnTo>
                  <a:pt x="638979" y="515958"/>
                </a:lnTo>
                <a:lnTo>
                  <a:pt x="658850" y="476363"/>
                </a:lnTo>
                <a:lnTo>
                  <a:pt x="673549" y="434048"/>
                </a:lnTo>
                <a:lnTo>
                  <a:pt x="682669" y="389424"/>
                </a:lnTo>
                <a:lnTo>
                  <a:pt x="685800" y="342900"/>
                </a:lnTo>
                <a:lnTo>
                  <a:pt x="682669" y="296375"/>
                </a:lnTo>
                <a:lnTo>
                  <a:pt x="673549" y="251751"/>
                </a:lnTo>
                <a:lnTo>
                  <a:pt x="658850" y="209436"/>
                </a:lnTo>
                <a:lnTo>
                  <a:pt x="638979" y="169841"/>
                </a:lnTo>
                <a:lnTo>
                  <a:pt x="614345" y="133373"/>
                </a:lnTo>
                <a:lnTo>
                  <a:pt x="585358" y="100441"/>
                </a:lnTo>
                <a:lnTo>
                  <a:pt x="552426" y="71454"/>
                </a:lnTo>
                <a:lnTo>
                  <a:pt x="515958" y="46820"/>
                </a:lnTo>
                <a:lnTo>
                  <a:pt x="476363" y="26949"/>
                </a:lnTo>
                <a:lnTo>
                  <a:pt x="434048" y="12250"/>
                </a:lnTo>
                <a:lnTo>
                  <a:pt x="389424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00A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82649" y="3455034"/>
            <a:ext cx="205104" cy="4133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2119" y="3207185"/>
            <a:ext cx="4450715" cy="126492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SET</a:t>
            </a:r>
            <a:r>
              <a:rPr dirty="0" sz="225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SCENARIO</a:t>
            </a:r>
            <a:r>
              <a:rPr dirty="0" sz="225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60"/>
              </a:spcBef>
            </a:pP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Choose</a:t>
            </a:r>
            <a:r>
              <a:rPr dirty="0" sz="20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crime</a:t>
            </a:r>
            <a:r>
              <a:rPr dirty="0" sz="20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profile,</a:t>
            </a:r>
            <a:r>
              <a:rPr dirty="0" sz="2000" spc="-3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holiday,</a:t>
            </a:r>
            <a:r>
              <a:rPr dirty="0" sz="20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day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type,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month</a:t>
            </a:r>
            <a:r>
              <a:rPr dirty="0" sz="20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000" spc="-3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hour.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4714875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5" y="3130"/>
                </a:lnTo>
                <a:lnTo>
                  <a:pt x="251751" y="12250"/>
                </a:lnTo>
                <a:lnTo>
                  <a:pt x="209436" y="26949"/>
                </a:lnTo>
                <a:lnTo>
                  <a:pt x="169841" y="46820"/>
                </a:lnTo>
                <a:lnTo>
                  <a:pt x="133373" y="71454"/>
                </a:lnTo>
                <a:lnTo>
                  <a:pt x="100441" y="100441"/>
                </a:lnTo>
                <a:lnTo>
                  <a:pt x="71454" y="133373"/>
                </a:lnTo>
                <a:lnTo>
                  <a:pt x="46820" y="169841"/>
                </a:lnTo>
                <a:lnTo>
                  <a:pt x="26949" y="209436"/>
                </a:lnTo>
                <a:lnTo>
                  <a:pt x="12250" y="251751"/>
                </a:lnTo>
                <a:lnTo>
                  <a:pt x="3130" y="296375"/>
                </a:lnTo>
                <a:lnTo>
                  <a:pt x="0" y="342900"/>
                </a:lnTo>
                <a:lnTo>
                  <a:pt x="3130" y="389424"/>
                </a:lnTo>
                <a:lnTo>
                  <a:pt x="12250" y="434048"/>
                </a:lnTo>
                <a:lnTo>
                  <a:pt x="26949" y="476363"/>
                </a:lnTo>
                <a:lnTo>
                  <a:pt x="46820" y="515958"/>
                </a:lnTo>
                <a:lnTo>
                  <a:pt x="71454" y="552426"/>
                </a:lnTo>
                <a:lnTo>
                  <a:pt x="100441" y="585358"/>
                </a:lnTo>
                <a:lnTo>
                  <a:pt x="133373" y="614345"/>
                </a:lnTo>
                <a:lnTo>
                  <a:pt x="169841" y="638979"/>
                </a:lnTo>
                <a:lnTo>
                  <a:pt x="209436" y="658850"/>
                </a:lnTo>
                <a:lnTo>
                  <a:pt x="251751" y="673549"/>
                </a:lnTo>
                <a:lnTo>
                  <a:pt x="296375" y="682669"/>
                </a:lnTo>
                <a:lnTo>
                  <a:pt x="342900" y="685800"/>
                </a:lnTo>
                <a:lnTo>
                  <a:pt x="389424" y="682669"/>
                </a:lnTo>
                <a:lnTo>
                  <a:pt x="434048" y="673549"/>
                </a:lnTo>
                <a:lnTo>
                  <a:pt x="476363" y="658850"/>
                </a:lnTo>
                <a:lnTo>
                  <a:pt x="515958" y="638979"/>
                </a:lnTo>
                <a:lnTo>
                  <a:pt x="552426" y="614345"/>
                </a:lnTo>
                <a:lnTo>
                  <a:pt x="585358" y="585358"/>
                </a:lnTo>
                <a:lnTo>
                  <a:pt x="614345" y="552426"/>
                </a:lnTo>
                <a:lnTo>
                  <a:pt x="638979" y="515958"/>
                </a:lnTo>
                <a:lnTo>
                  <a:pt x="658850" y="476363"/>
                </a:lnTo>
                <a:lnTo>
                  <a:pt x="673549" y="434048"/>
                </a:lnTo>
                <a:lnTo>
                  <a:pt x="682669" y="389424"/>
                </a:lnTo>
                <a:lnTo>
                  <a:pt x="685800" y="342900"/>
                </a:lnTo>
                <a:lnTo>
                  <a:pt x="682669" y="296375"/>
                </a:lnTo>
                <a:lnTo>
                  <a:pt x="673549" y="251751"/>
                </a:lnTo>
                <a:lnTo>
                  <a:pt x="658850" y="209436"/>
                </a:lnTo>
                <a:lnTo>
                  <a:pt x="638979" y="169841"/>
                </a:lnTo>
                <a:lnTo>
                  <a:pt x="614345" y="133373"/>
                </a:lnTo>
                <a:lnTo>
                  <a:pt x="585358" y="100441"/>
                </a:lnTo>
                <a:lnTo>
                  <a:pt x="552426" y="71454"/>
                </a:lnTo>
                <a:lnTo>
                  <a:pt x="515958" y="46820"/>
                </a:lnTo>
                <a:lnTo>
                  <a:pt x="476363" y="26949"/>
                </a:lnTo>
                <a:lnTo>
                  <a:pt x="434048" y="12250"/>
                </a:lnTo>
                <a:lnTo>
                  <a:pt x="389424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206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82649" y="4836414"/>
            <a:ext cx="205104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2119" y="4588295"/>
            <a:ext cx="4609465" cy="126492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SCAN</a:t>
            </a:r>
            <a:r>
              <a:rPr dirty="0" sz="2250" spc="-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spc="-30" b="1">
                <a:solidFill>
                  <a:srgbClr val="111111"/>
                </a:solidFill>
                <a:latin typeface="Arial"/>
                <a:cs typeface="Arial"/>
              </a:rPr>
              <a:t>STATEWIDE</a:t>
            </a:r>
            <a:r>
              <a:rPr dirty="0" sz="2250" spc="-7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spc="-25" b="1">
                <a:solidFill>
                  <a:srgbClr val="111111"/>
                </a:solidFill>
                <a:latin typeface="Arial"/>
                <a:cs typeface="Arial"/>
              </a:rPr>
              <a:t>MAP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60"/>
              </a:spcBef>
            </a:pP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Filter</a:t>
            </a:r>
            <a:r>
              <a:rPr dirty="0" sz="2000" spc="-1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164</a:t>
            </a:r>
            <a:r>
              <a:rPr dirty="0" sz="2000" spc="-3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Station</a:t>
            </a:r>
            <a:r>
              <a:rPr dirty="0" sz="2000" spc="-3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markers</a:t>
            </a:r>
            <a:r>
              <a:rPr dirty="0" sz="2000" spc="-7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by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District</a:t>
            </a:r>
            <a:r>
              <a:rPr dirty="0" sz="2000" spc="-5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58606B"/>
                </a:solidFill>
                <a:latin typeface="Arial MT"/>
                <a:cs typeface="Arial MT"/>
              </a:rPr>
              <a:t>and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HOTSPOT</a:t>
            </a:r>
            <a:r>
              <a:rPr dirty="0" sz="2000" spc="-8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(</a:t>
            </a:r>
            <a:r>
              <a:rPr dirty="0" sz="20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58606B"/>
                </a:solidFill>
                <a:latin typeface="Arial MT"/>
                <a:cs typeface="Arial MT"/>
              </a:rPr>
              <a:t>WATCH</a:t>
            </a:r>
            <a:r>
              <a:rPr dirty="0" sz="2000" spc="-3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/</a:t>
            </a:r>
            <a:r>
              <a:rPr dirty="0" sz="20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SAFE</a:t>
            </a:r>
            <a:r>
              <a:rPr dirty="0" sz="2000" spc="-2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label)</a:t>
            </a:r>
            <a:r>
              <a:rPr dirty="0" sz="20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58606B"/>
                </a:solidFill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3000" y="60960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5" y="3130"/>
                </a:lnTo>
                <a:lnTo>
                  <a:pt x="251751" y="12250"/>
                </a:lnTo>
                <a:lnTo>
                  <a:pt x="209436" y="26949"/>
                </a:lnTo>
                <a:lnTo>
                  <a:pt x="169841" y="46820"/>
                </a:lnTo>
                <a:lnTo>
                  <a:pt x="133373" y="71454"/>
                </a:lnTo>
                <a:lnTo>
                  <a:pt x="100441" y="100441"/>
                </a:lnTo>
                <a:lnTo>
                  <a:pt x="71454" y="133373"/>
                </a:lnTo>
                <a:lnTo>
                  <a:pt x="46820" y="169841"/>
                </a:lnTo>
                <a:lnTo>
                  <a:pt x="26949" y="209436"/>
                </a:lnTo>
                <a:lnTo>
                  <a:pt x="12250" y="251751"/>
                </a:lnTo>
                <a:lnTo>
                  <a:pt x="3130" y="296375"/>
                </a:lnTo>
                <a:lnTo>
                  <a:pt x="0" y="342900"/>
                </a:lnTo>
                <a:lnTo>
                  <a:pt x="3130" y="389424"/>
                </a:lnTo>
                <a:lnTo>
                  <a:pt x="12250" y="434048"/>
                </a:lnTo>
                <a:lnTo>
                  <a:pt x="26949" y="476363"/>
                </a:lnTo>
                <a:lnTo>
                  <a:pt x="46820" y="515958"/>
                </a:lnTo>
                <a:lnTo>
                  <a:pt x="71454" y="552426"/>
                </a:lnTo>
                <a:lnTo>
                  <a:pt x="100441" y="585358"/>
                </a:lnTo>
                <a:lnTo>
                  <a:pt x="133373" y="614345"/>
                </a:lnTo>
                <a:lnTo>
                  <a:pt x="169841" y="638979"/>
                </a:lnTo>
                <a:lnTo>
                  <a:pt x="209436" y="658850"/>
                </a:lnTo>
                <a:lnTo>
                  <a:pt x="251751" y="673549"/>
                </a:lnTo>
                <a:lnTo>
                  <a:pt x="296375" y="682669"/>
                </a:lnTo>
                <a:lnTo>
                  <a:pt x="342900" y="685800"/>
                </a:lnTo>
                <a:lnTo>
                  <a:pt x="389424" y="682669"/>
                </a:lnTo>
                <a:lnTo>
                  <a:pt x="434048" y="673549"/>
                </a:lnTo>
                <a:lnTo>
                  <a:pt x="476363" y="658850"/>
                </a:lnTo>
                <a:lnTo>
                  <a:pt x="515958" y="638979"/>
                </a:lnTo>
                <a:lnTo>
                  <a:pt x="552426" y="614345"/>
                </a:lnTo>
                <a:lnTo>
                  <a:pt x="585358" y="585358"/>
                </a:lnTo>
                <a:lnTo>
                  <a:pt x="614345" y="552426"/>
                </a:lnTo>
                <a:lnTo>
                  <a:pt x="638979" y="515958"/>
                </a:lnTo>
                <a:lnTo>
                  <a:pt x="658850" y="476363"/>
                </a:lnTo>
                <a:lnTo>
                  <a:pt x="673549" y="434048"/>
                </a:lnTo>
                <a:lnTo>
                  <a:pt x="682669" y="389424"/>
                </a:lnTo>
                <a:lnTo>
                  <a:pt x="685800" y="342900"/>
                </a:lnTo>
                <a:lnTo>
                  <a:pt x="682669" y="296375"/>
                </a:lnTo>
                <a:lnTo>
                  <a:pt x="673549" y="251751"/>
                </a:lnTo>
                <a:lnTo>
                  <a:pt x="658850" y="209436"/>
                </a:lnTo>
                <a:lnTo>
                  <a:pt x="638979" y="169841"/>
                </a:lnTo>
                <a:lnTo>
                  <a:pt x="614345" y="133373"/>
                </a:lnTo>
                <a:lnTo>
                  <a:pt x="585358" y="100441"/>
                </a:lnTo>
                <a:lnTo>
                  <a:pt x="552426" y="71454"/>
                </a:lnTo>
                <a:lnTo>
                  <a:pt x="515958" y="46820"/>
                </a:lnTo>
                <a:lnTo>
                  <a:pt x="476363" y="26949"/>
                </a:lnTo>
                <a:lnTo>
                  <a:pt x="434048" y="12250"/>
                </a:lnTo>
                <a:lnTo>
                  <a:pt x="389424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00A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82649" y="6217665"/>
            <a:ext cx="205104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2119" y="5969817"/>
            <a:ext cx="4875530" cy="126492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INSPECT</a:t>
            </a:r>
            <a:r>
              <a:rPr dirty="0" sz="2250" spc="-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spc="-40" b="1">
                <a:solidFill>
                  <a:srgbClr val="111111"/>
                </a:solidFill>
                <a:latin typeface="Arial"/>
                <a:cs typeface="Arial"/>
              </a:rPr>
              <a:t>STATION</a:t>
            </a:r>
            <a:r>
              <a:rPr dirty="0" sz="2250" spc="-7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11111"/>
                </a:solidFill>
                <a:latin typeface="Arial"/>
                <a:cs typeface="Arial"/>
              </a:rPr>
              <a:t>EVIDENCE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60"/>
              </a:spcBef>
            </a:pP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Open</a:t>
            </a:r>
            <a:r>
              <a:rPr dirty="0" sz="20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Station</a:t>
            </a:r>
            <a:r>
              <a:rPr dirty="0" sz="2000" spc="-3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Forecast,</a:t>
            </a:r>
            <a:r>
              <a:rPr dirty="0" sz="2000" spc="-7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Serious</a:t>
            </a:r>
            <a:r>
              <a:rPr dirty="0" sz="2000" spc="-3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Probability,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Uncertainty</a:t>
            </a:r>
            <a:r>
              <a:rPr dirty="0" sz="2000" spc="-5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Crime</a:t>
            </a:r>
            <a:r>
              <a:rPr dirty="0" sz="2000" spc="-4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mix.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3000" y="7477125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5" y="3130"/>
                </a:lnTo>
                <a:lnTo>
                  <a:pt x="251751" y="12250"/>
                </a:lnTo>
                <a:lnTo>
                  <a:pt x="209436" y="26949"/>
                </a:lnTo>
                <a:lnTo>
                  <a:pt x="169841" y="46820"/>
                </a:lnTo>
                <a:lnTo>
                  <a:pt x="133373" y="71454"/>
                </a:lnTo>
                <a:lnTo>
                  <a:pt x="100441" y="100441"/>
                </a:lnTo>
                <a:lnTo>
                  <a:pt x="71454" y="133373"/>
                </a:lnTo>
                <a:lnTo>
                  <a:pt x="46820" y="169841"/>
                </a:lnTo>
                <a:lnTo>
                  <a:pt x="26949" y="209436"/>
                </a:lnTo>
                <a:lnTo>
                  <a:pt x="12250" y="251751"/>
                </a:lnTo>
                <a:lnTo>
                  <a:pt x="3130" y="296375"/>
                </a:lnTo>
                <a:lnTo>
                  <a:pt x="0" y="342900"/>
                </a:lnTo>
                <a:lnTo>
                  <a:pt x="3130" y="389424"/>
                </a:lnTo>
                <a:lnTo>
                  <a:pt x="12250" y="434048"/>
                </a:lnTo>
                <a:lnTo>
                  <a:pt x="26949" y="476363"/>
                </a:lnTo>
                <a:lnTo>
                  <a:pt x="46820" y="515958"/>
                </a:lnTo>
                <a:lnTo>
                  <a:pt x="71454" y="552426"/>
                </a:lnTo>
                <a:lnTo>
                  <a:pt x="100441" y="585358"/>
                </a:lnTo>
                <a:lnTo>
                  <a:pt x="133373" y="614345"/>
                </a:lnTo>
                <a:lnTo>
                  <a:pt x="169841" y="638979"/>
                </a:lnTo>
                <a:lnTo>
                  <a:pt x="209436" y="658850"/>
                </a:lnTo>
                <a:lnTo>
                  <a:pt x="251751" y="673549"/>
                </a:lnTo>
                <a:lnTo>
                  <a:pt x="296375" y="682669"/>
                </a:lnTo>
                <a:lnTo>
                  <a:pt x="342900" y="685800"/>
                </a:lnTo>
                <a:lnTo>
                  <a:pt x="389424" y="682669"/>
                </a:lnTo>
                <a:lnTo>
                  <a:pt x="434048" y="673549"/>
                </a:lnTo>
                <a:lnTo>
                  <a:pt x="476363" y="658850"/>
                </a:lnTo>
                <a:lnTo>
                  <a:pt x="515958" y="638979"/>
                </a:lnTo>
                <a:lnTo>
                  <a:pt x="552426" y="614345"/>
                </a:lnTo>
                <a:lnTo>
                  <a:pt x="585358" y="585358"/>
                </a:lnTo>
                <a:lnTo>
                  <a:pt x="614345" y="552426"/>
                </a:lnTo>
                <a:lnTo>
                  <a:pt x="638979" y="515958"/>
                </a:lnTo>
                <a:lnTo>
                  <a:pt x="658850" y="476363"/>
                </a:lnTo>
                <a:lnTo>
                  <a:pt x="673549" y="434048"/>
                </a:lnTo>
                <a:lnTo>
                  <a:pt x="682669" y="389424"/>
                </a:lnTo>
                <a:lnTo>
                  <a:pt x="685800" y="342900"/>
                </a:lnTo>
                <a:lnTo>
                  <a:pt x="682669" y="296375"/>
                </a:lnTo>
                <a:lnTo>
                  <a:pt x="673549" y="251751"/>
                </a:lnTo>
                <a:lnTo>
                  <a:pt x="658850" y="209436"/>
                </a:lnTo>
                <a:lnTo>
                  <a:pt x="638979" y="169841"/>
                </a:lnTo>
                <a:lnTo>
                  <a:pt x="614345" y="133373"/>
                </a:lnTo>
                <a:lnTo>
                  <a:pt x="585358" y="100441"/>
                </a:lnTo>
                <a:lnTo>
                  <a:pt x="552426" y="71454"/>
                </a:lnTo>
                <a:lnTo>
                  <a:pt x="515958" y="46820"/>
                </a:lnTo>
                <a:lnTo>
                  <a:pt x="476363" y="26949"/>
                </a:lnTo>
                <a:lnTo>
                  <a:pt x="434048" y="12250"/>
                </a:lnTo>
                <a:lnTo>
                  <a:pt x="389424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206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82649" y="7599044"/>
            <a:ext cx="205104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22119" y="7351196"/>
            <a:ext cx="4255770" cy="126492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TRACE</a:t>
            </a:r>
            <a:r>
              <a:rPr dirty="0" sz="225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CYBER</a:t>
            </a:r>
            <a:r>
              <a:rPr dirty="0" sz="225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11111"/>
                </a:solidFill>
                <a:latin typeface="Arial"/>
                <a:cs typeface="Arial"/>
              </a:rPr>
              <a:t>ROUTES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60"/>
              </a:spcBef>
            </a:pP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Focus</a:t>
            </a:r>
            <a:r>
              <a:rPr dirty="0" sz="20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an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accused</a:t>
            </a:r>
            <a:r>
              <a:rPr dirty="0" sz="2000" spc="-4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or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station</a:t>
            </a:r>
            <a:r>
              <a:rPr dirty="0" sz="2000" spc="-3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000" spc="-2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58606B"/>
                </a:solidFill>
                <a:latin typeface="Arial MT"/>
                <a:cs typeface="Arial MT"/>
              </a:rPr>
              <a:t>map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chronological</a:t>
            </a:r>
            <a:r>
              <a:rPr dirty="0" sz="2000" spc="-8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Station</a:t>
            </a:r>
            <a:r>
              <a:rPr dirty="0" sz="2000" spc="-5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-</a:t>
            </a:r>
            <a:r>
              <a:rPr dirty="0" sz="2000" spc="-65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8606B"/>
                </a:solidFill>
                <a:latin typeface="Arial MT"/>
                <a:cs typeface="Arial MT"/>
              </a:rPr>
              <a:t>level</a:t>
            </a:r>
            <a:r>
              <a:rPr dirty="0" sz="2000" spc="-6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8606B"/>
                </a:solidFill>
                <a:latin typeface="Arial MT"/>
                <a:cs typeface="Arial MT"/>
              </a:rPr>
              <a:t>activity.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34375" y="3286125"/>
            <a:ext cx="7905750" cy="4120515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</a:ln>
        </p:spPr>
        <p:txBody>
          <a:bodyPr wrap="square" lIns="0" tIns="1752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80"/>
              </a:spcBef>
            </a:pPr>
            <a:endParaRPr sz="200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</a:pPr>
            <a:r>
              <a:rPr dirty="0" sz="2000" b="1">
                <a:solidFill>
                  <a:srgbClr val="78DCD3"/>
                </a:solidFill>
                <a:latin typeface="Arial"/>
                <a:cs typeface="Arial"/>
              </a:rPr>
              <a:t>PROTOTYPE</a:t>
            </a:r>
            <a:r>
              <a:rPr dirty="0" sz="2000" spc="-75" b="1">
                <a:solidFill>
                  <a:srgbClr val="78DCD3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78DCD3"/>
                </a:solidFill>
                <a:latin typeface="Arial"/>
                <a:cs typeface="Arial"/>
              </a:rPr>
              <a:t>EXPERIENCE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Arial"/>
              <a:cs typeface="Arial"/>
            </a:endParaRPr>
          </a:p>
          <a:p>
            <a:pPr marL="615950">
              <a:lnSpc>
                <a:spcPct val="100000"/>
              </a:lnSpc>
              <a:spcBef>
                <a:spcPts val="5"/>
              </a:spcBef>
            </a:pPr>
            <a:r>
              <a:rPr dirty="0" sz="3600" b="1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dirty="0" sz="3600" spc="-10" b="1">
                <a:solidFill>
                  <a:srgbClr val="FFFFFF"/>
                </a:solidFill>
                <a:latin typeface="Arial"/>
                <a:cs typeface="Arial"/>
              </a:rPr>
              <a:t> Interface,</a:t>
            </a:r>
            <a:endParaRPr sz="3600">
              <a:latin typeface="Arial"/>
              <a:cs typeface="Arial"/>
            </a:endParaRPr>
          </a:p>
          <a:p>
            <a:pPr marL="615950">
              <a:lnSpc>
                <a:spcPct val="100000"/>
              </a:lnSpc>
            </a:pPr>
            <a:r>
              <a:rPr dirty="0" sz="3600" b="1">
                <a:solidFill>
                  <a:srgbClr val="FFFFFF"/>
                </a:solidFill>
                <a:latin typeface="Arial"/>
                <a:cs typeface="Arial"/>
              </a:rPr>
              <a:t>Four</a:t>
            </a:r>
            <a:r>
              <a:rPr dirty="0" sz="3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FFFFFF"/>
                </a:solidFill>
                <a:latin typeface="Arial"/>
                <a:cs typeface="Arial"/>
              </a:rPr>
              <a:t>Evidence</a:t>
            </a:r>
            <a:r>
              <a:rPr dirty="0" sz="36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FFFFFF"/>
                </a:solidFill>
                <a:latin typeface="Arial"/>
                <a:cs typeface="Arial"/>
              </a:rPr>
              <a:t>Modes</a:t>
            </a:r>
            <a:endParaRPr sz="3600">
              <a:latin typeface="Arial"/>
              <a:cs typeface="Arial"/>
            </a:endParaRPr>
          </a:p>
          <a:p>
            <a:pPr marL="615950">
              <a:lnSpc>
                <a:spcPct val="100000"/>
              </a:lnSpc>
              <a:spcBef>
                <a:spcPts val="3804"/>
              </a:spcBef>
              <a:tabLst>
                <a:tab pos="3005455" algn="l"/>
                <a:tab pos="3289300" algn="l"/>
                <a:tab pos="4467225" algn="l"/>
                <a:tab pos="4749800" algn="l"/>
                <a:tab pos="6840220" algn="l"/>
              </a:tabLst>
            </a:pPr>
            <a:r>
              <a:rPr dirty="0" sz="1850" b="1">
                <a:solidFill>
                  <a:srgbClr val="D7DFE7"/>
                </a:solidFill>
                <a:latin typeface="Arial"/>
                <a:cs typeface="Arial"/>
              </a:rPr>
              <a:t>MAP</a:t>
            </a:r>
            <a:r>
              <a:rPr dirty="0" sz="1850" spc="5" b="1">
                <a:solidFill>
                  <a:srgbClr val="D7DFE7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D7DFE7"/>
                </a:solidFill>
                <a:latin typeface="Arial"/>
                <a:cs typeface="Arial"/>
              </a:rPr>
              <a:t>+</a:t>
            </a:r>
            <a:r>
              <a:rPr dirty="0" sz="1850" spc="35" b="1">
                <a:solidFill>
                  <a:srgbClr val="D7DFE7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D7DFE7"/>
                </a:solidFill>
                <a:latin typeface="Arial"/>
                <a:cs typeface="Arial"/>
              </a:rPr>
              <a:t>SIMULATOR</a:t>
            </a:r>
            <a:r>
              <a:rPr dirty="0" sz="1850" b="1">
                <a:solidFill>
                  <a:srgbClr val="D7DFE7"/>
                </a:solidFill>
                <a:latin typeface="Arial"/>
                <a:cs typeface="Arial"/>
              </a:rPr>
              <a:t>	</a:t>
            </a:r>
            <a:r>
              <a:rPr dirty="0" sz="1850" spc="-50" b="1">
                <a:solidFill>
                  <a:srgbClr val="D7DFE7"/>
                </a:solidFill>
                <a:latin typeface="Arial"/>
                <a:cs typeface="Arial"/>
              </a:rPr>
              <a:t>•</a:t>
            </a:r>
            <a:r>
              <a:rPr dirty="0" sz="1850" b="1">
                <a:solidFill>
                  <a:srgbClr val="D7DFE7"/>
                </a:solidFill>
                <a:latin typeface="Arial"/>
                <a:cs typeface="Arial"/>
              </a:rPr>
              <a:t>	</a:t>
            </a:r>
            <a:r>
              <a:rPr dirty="0" sz="1850" spc="-10" b="1">
                <a:solidFill>
                  <a:srgbClr val="D7DFE7"/>
                </a:solidFill>
                <a:latin typeface="Arial"/>
                <a:cs typeface="Arial"/>
              </a:rPr>
              <a:t>TRENDS</a:t>
            </a:r>
            <a:r>
              <a:rPr dirty="0" sz="1850" b="1">
                <a:solidFill>
                  <a:srgbClr val="D7DFE7"/>
                </a:solidFill>
                <a:latin typeface="Arial"/>
                <a:cs typeface="Arial"/>
              </a:rPr>
              <a:t>	</a:t>
            </a:r>
            <a:r>
              <a:rPr dirty="0" sz="1850" spc="-50" b="1">
                <a:solidFill>
                  <a:srgbClr val="D7DFE7"/>
                </a:solidFill>
                <a:latin typeface="Arial"/>
                <a:cs typeface="Arial"/>
              </a:rPr>
              <a:t>•</a:t>
            </a:r>
            <a:r>
              <a:rPr dirty="0" sz="1850" b="1">
                <a:solidFill>
                  <a:srgbClr val="D7DFE7"/>
                </a:solidFill>
                <a:latin typeface="Arial"/>
                <a:cs typeface="Arial"/>
              </a:rPr>
              <a:t>	CYBER</a:t>
            </a:r>
            <a:r>
              <a:rPr dirty="0" sz="1850" spc="10" b="1">
                <a:solidFill>
                  <a:srgbClr val="D7DFE7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D7DFE7"/>
                </a:solidFill>
                <a:latin typeface="Arial"/>
                <a:cs typeface="Arial"/>
              </a:rPr>
              <a:t>ROUTES</a:t>
            </a:r>
            <a:r>
              <a:rPr dirty="0" sz="1850" b="1">
                <a:solidFill>
                  <a:srgbClr val="D7DFE7"/>
                </a:solidFill>
                <a:latin typeface="Arial"/>
                <a:cs typeface="Arial"/>
              </a:rPr>
              <a:t>	•</a:t>
            </a:r>
            <a:r>
              <a:rPr dirty="0" sz="1850" spc="-65" b="1">
                <a:solidFill>
                  <a:srgbClr val="D7DFE7"/>
                </a:solidFill>
                <a:latin typeface="Arial"/>
                <a:cs typeface="Arial"/>
              </a:rPr>
              <a:t> </a:t>
            </a:r>
            <a:r>
              <a:rPr dirty="0" sz="1850" spc="-10" b="1">
                <a:solidFill>
                  <a:srgbClr val="D7DFE7"/>
                </a:solidFill>
                <a:latin typeface="Arial"/>
                <a:cs typeface="Arial"/>
              </a:rPr>
              <a:t>AUDIT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850">
              <a:latin typeface="Arial"/>
              <a:cs typeface="Arial"/>
            </a:endParaRPr>
          </a:p>
          <a:p>
            <a:pPr marL="61595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Prototype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615950">
              <a:lnSpc>
                <a:spcPct val="100000"/>
              </a:lnSpc>
            </a:pP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Turns</a:t>
            </a:r>
            <a:r>
              <a:rPr dirty="0" sz="18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statewide</a:t>
            </a:r>
            <a:r>
              <a:rPr dirty="0" sz="18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signals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18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station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level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531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ARCHITECTURE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DIAGRAM</a:t>
            </a:r>
            <a:r>
              <a:rPr dirty="0" spc="-10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PROPOSED</a:t>
            </a:r>
            <a:r>
              <a:rPr dirty="0" spc="-10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120" y="2824429"/>
            <a:ext cx="375729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240" b="1">
                <a:latin typeface="Trebuchet MS"/>
                <a:cs typeface="Trebuchet MS"/>
              </a:rPr>
              <a:t>4-</a:t>
            </a:r>
            <a:r>
              <a:rPr dirty="0" sz="2500" spc="-180" b="1">
                <a:latin typeface="Trebuchet MS"/>
                <a:cs typeface="Trebuchet MS"/>
              </a:rPr>
              <a:t>TIER</a:t>
            </a:r>
            <a:r>
              <a:rPr dirty="0" sz="2500" spc="-235" b="1">
                <a:latin typeface="Trebuchet MS"/>
                <a:cs typeface="Trebuchet MS"/>
              </a:rPr>
              <a:t> </a:t>
            </a:r>
            <a:r>
              <a:rPr dirty="0" sz="2500" spc="-165" b="1">
                <a:latin typeface="Trebuchet MS"/>
                <a:cs typeface="Trebuchet MS"/>
              </a:rPr>
              <a:t>ARCHITECTURE</a:t>
            </a:r>
            <a:r>
              <a:rPr dirty="0" sz="2500" spc="-170" b="1">
                <a:latin typeface="Trebuchet MS"/>
                <a:cs typeface="Trebuchet MS"/>
              </a:rPr>
              <a:t> </a:t>
            </a:r>
            <a:r>
              <a:rPr dirty="0" sz="2500" spc="-145" b="1">
                <a:latin typeface="Trebuchet MS"/>
                <a:cs typeface="Trebuchet MS"/>
              </a:rPr>
              <a:t>FLOW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2768" y="3605276"/>
            <a:ext cx="3831590" cy="4625340"/>
            <a:chOff x="252768" y="3605276"/>
            <a:chExt cx="3831590" cy="4625340"/>
          </a:xfrm>
        </p:grpSpPr>
        <p:sp>
          <p:nvSpPr>
            <p:cNvPr id="5" name="object 5"/>
            <p:cNvSpPr/>
            <p:nvPr/>
          </p:nvSpPr>
          <p:spPr>
            <a:xfrm>
              <a:off x="262293" y="3614801"/>
              <a:ext cx="3810000" cy="4606290"/>
            </a:xfrm>
            <a:custGeom>
              <a:avLst/>
              <a:gdLst/>
              <a:ahLst/>
              <a:cxnLst/>
              <a:rect l="l" t="t" r="r" b="b"/>
              <a:pathLst>
                <a:path w="3810000" h="4606290">
                  <a:moveTo>
                    <a:pt x="0" y="4605909"/>
                  </a:moveTo>
                  <a:lnTo>
                    <a:pt x="3810000" y="4605909"/>
                  </a:lnTo>
                  <a:lnTo>
                    <a:pt x="3810000" y="0"/>
                  </a:lnTo>
                  <a:lnTo>
                    <a:pt x="0" y="0"/>
                  </a:lnTo>
                  <a:lnTo>
                    <a:pt x="0" y="4605909"/>
                  </a:lnTo>
                  <a:close/>
                </a:path>
              </a:pathLst>
            </a:custGeom>
            <a:ln w="19050">
              <a:solidFill>
                <a:srgbClr val="CAD0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62293" y="3614712"/>
              <a:ext cx="3822065" cy="233679"/>
            </a:xfrm>
            <a:custGeom>
              <a:avLst/>
              <a:gdLst/>
              <a:ahLst/>
              <a:cxnLst/>
              <a:rect l="l" t="t" r="r" b="b"/>
              <a:pathLst>
                <a:path w="3822065" h="233679">
                  <a:moveTo>
                    <a:pt x="3821938" y="0"/>
                  </a:moveTo>
                  <a:lnTo>
                    <a:pt x="0" y="0"/>
                  </a:lnTo>
                  <a:lnTo>
                    <a:pt x="0" y="233387"/>
                  </a:lnTo>
                  <a:lnTo>
                    <a:pt x="3821938" y="233387"/>
                  </a:lnTo>
                  <a:lnTo>
                    <a:pt x="3821938" y="0"/>
                  </a:lnTo>
                  <a:close/>
                </a:path>
              </a:pathLst>
            </a:custGeom>
            <a:solidFill>
              <a:srgbClr val="00A99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143375" y="3562350"/>
            <a:ext cx="9391015" cy="4625340"/>
            <a:chOff x="4143375" y="3562350"/>
            <a:chExt cx="9391015" cy="4625340"/>
          </a:xfrm>
        </p:grpSpPr>
        <p:sp>
          <p:nvSpPr>
            <p:cNvPr id="8" name="object 8"/>
            <p:cNvSpPr/>
            <p:nvPr/>
          </p:nvSpPr>
          <p:spPr>
            <a:xfrm>
              <a:off x="4143375" y="5314949"/>
              <a:ext cx="9391015" cy="381000"/>
            </a:xfrm>
            <a:custGeom>
              <a:avLst/>
              <a:gdLst/>
              <a:ahLst/>
              <a:cxnLst/>
              <a:rect l="l" t="t" r="r" b="b"/>
              <a:pathLst>
                <a:path w="9391015" h="381000">
                  <a:moveTo>
                    <a:pt x="514350" y="190500"/>
                  </a:moveTo>
                  <a:lnTo>
                    <a:pt x="371475" y="0"/>
                  </a:lnTo>
                  <a:lnTo>
                    <a:pt x="228600" y="0"/>
                  </a:lnTo>
                  <a:lnTo>
                    <a:pt x="350037" y="161925"/>
                  </a:lnTo>
                  <a:lnTo>
                    <a:pt x="0" y="161925"/>
                  </a:lnTo>
                  <a:lnTo>
                    <a:pt x="0" y="219075"/>
                  </a:lnTo>
                  <a:lnTo>
                    <a:pt x="350037" y="219075"/>
                  </a:lnTo>
                  <a:lnTo>
                    <a:pt x="228600" y="381000"/>
                  </a:lnTo>
                  <a:lnTo>
                    <a:pt x="371475" y="381000"/>
                  </a:lnTo>
                  <a:lnTo>
                    <a:pt x="514350" y="190500"/>
                  </a:lnTo>
                  <a:close/>
                </a:path>
                <a:path w="9391015" h="381000">
                  <a:moveTo>
                    <a:pt x="4650232" y="190500"/>
                  </a:moveTo>
                  <a:lnTo>
                    <a:pt x="4507357" y="0"/>
                  </a:lnTo>
                  <a:lnTo>
                    <a:pt x="4507357" y="190500"/>
                  </a:lnTo>
                  <a:lnTo>
                    <a:pt x="4503039" y="196265"/>
                  </a:lnTo>
                  <a:lnTo>
                    <a:pt x="4503039" y="184746"/>
                  </a:lnTo>
                  <a:lnTo>
                    <a:pt x="4507357" y="190500"/>
                  </a:lnTo>
                  <a:lnTo>
                    <a:pt x="4507357" y="0"/>
                  </a:lnTo>
                  <a:lnTo>
                    <a:pt x="4364482" y="0"/>
                  </a:lnTo>
                  <a:lnTo>
                    <a:pt x="4478502" y="152031"/>
                  </a:lnTo>
                  <a:lnTo>
                    <a:pt x="4236339" y="152031"/>
                  </a:lnTo>
                  <a:lnTo>
                    <a:pt x="4236339" y="197739"/>
                  </a:lnTo>
                  <a:lnTo>
                    <a:pt x="4501921" y="197739"/>
                  </a:lnTo>
                  <a:lnTo>
                    <a:pt x="4364482" y="381000"/>
                  </a:lnTo>
                  <a:lnTo>
                    <a:pt x="4507357" y="381000"/>
                  </a:lnTo>
                  <a:lnTo>
                    <a:pt x="4650232" y="190500"/>
                  </a:lnTo>
                  <a:close/>
                </a:path>
                <a:path w="9391015" h="381000">
                  <a:moveTo>
                    <a:pt x="9390888" y="197739"/>
                  </a:moveTo>
                  <a:lnTo>
                    <a:pt x="9236075" y="35814"/>
                  </a:lnTo>
                  <a:lnTo>
                    <a:pt x="9081376" y="35814"/>
                  </a:lnTo>
                  <a:lnTo>
                    <a:pt x="9201848" y="161925"/>
                  </a:lnTo>
                  <a:lnTo>
                    <a:pt x="8866632" y="161925"/>
                  </a:lnTo>
                  <a:lnTo>
                    <a:pt x="8866632" y="219075"/>
                  </a:lnTo>
                  <a:lnTo>
                    <a:pt x="9215679" y="219075"/>
                  </a:lnTo>
                  <a:lnTo>
                    <a:pt x="9081376" y="359664"/>
                  </a:lnTo>
                  <a:lnTo>
                    <a:pt x="9236075" y="359664"/>
                  </a:lnTo>
                  <a:lnTo>
                    <a:pt x="9390888" y="197739"/>
                  </a:lnTo>
                  <a:close/>
                </a:path>
              </a:pathLst>
            </a:custGeom>
            <a:solidFill>
              <a:srgbClr val="2066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676775" y="3571875"/>
              <a:ext cx="3691254" cy="4606290"/>
            </a:xfrm>
            <a:custGeom>
              <a:avLst/>
              <a:gdLst/>
              <a:ahLst/>
              <a:cxnLst/>
              <a:rect l="l" t="t" r="r" b="b"/>
              <a:pathLst>
                <a:path w="3691254" h="4606290">
                  <a:moveTo>
                    <a:pt x="0" y="4605908"/>
                  </a:moveTo>
                  <a:lnTo>
                    <a:pt x="3691001" y="4605908"/>
                  </a:lnTo>
                  <a:lnTo>
                    <a:pt x="3691001" y="0"/>
                  </a:lnTo>
                  <a:lnTo>
                    <a:pt x="0" y="0"/>
                  </a:lnTo>
                  <a:lnTo>
                    <a:pt x="0" y="4605908"/>
                  </a:lnTo>
                  <a:close/>
                </a:path>
              </a:pathLst>
            </a:custGeom>
            <a:ln w="19049">
              <a:solidFill>
                <a:srgbClr val="CAD0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676775" y="3571849"/>
              <a:ext cx="3691254" cy="276860"/>
            </a:xfrm>
            <a:custGeom>
              <a:avLst/>
              <a:gdLst/>
              <a:ahLst/>
              <a:cxnLst/>
              <a:rect l="l" t="t" r="r" b="b"/>
              <a:pathLst>
                <a:path w="3691254" h="276860">
                  <a:moveTo>
                    <a:pt x="3691001" y="0"/>
                  </a:moveTo>
                  <a:lnTo>
                    <a:pt x="0" y="0"/>
                  </a:lnTo>
                  <a:lnTo>
                    <a:pt x="0" y="276250"/>
                  </a:lnTo>
                  <a:lnTo>
                    <a:pt x="3691001" y="276250"/>
                  </a:lnTo>
                  <a:lnTo>
                    <a:pt x="3691001" y="0"/>
                  </a:lnTo>
                  <a:close/>
                </a:path>
              </a:pathLst>
            </a:custGeom>
            <a:solidFill>
              <a:srgbClr val="2066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41172" y="4035628"/>
            <a:ext cx="85979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85" b="1">
                <a:solidFill>
                  <a:srgbClr val="00A99D"/>
                </a:solidFill>
                <a:latin typeface="Arial"/>
                <a:cs typeface="Arial"/>
              </a:rPr>
              <a:t>DATA</a:t>
            </a:r>
            <a:endParaRPr sz="2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7068" y="4530369"/>
            <a:ext cx="3314700" cy="4089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ksp_datagen_v8_final.py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2697" y="3920998"/>
            <a:ext cx="180975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25" b="1">
                <a:solidFill>
                  <a:srgbClr val="2066F3"/>
                </a:solidFill>
                <a:latin typeface="Arial"/>
                <a:cs typeface="Arial"/>
              </a:rPr>
              <a:t>ANALYTICS</a:t>
            </a:r>
            <a:endParaRPr sz="2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9175" y="4428223"/>
            <a:ext cx="3238500" cy="42100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4254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34"/>
              </a:spcBef>
            </a:pP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ksp_pipeline_v8_final.py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5896" y="5169788"/>
            <a:ext cx="3431540" cy="1854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Computes</a:t>
            </a:r>
            <a:r>
              <a:rPr dirty="0" sz="2000" spc="-1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27</a:t>
            </a:r>
            <a:r>
              <a:rPr dirty="0" sz="2000" spc="1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leakage-aware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features,</a:t>
            </a:r>
            <a:r>
              <a:rPr dirty="0" sz="2000" spc="-6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trains</a:t>
            </a:r>
            <a:r>
              <a:rPr dirty="0" sz="2000" spc="-4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two</a:t>
            </a:r>
            <a:r>
              <a:rPr dirty="0" sz="2000" spc="-5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gradient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boosting</a:t>
            </a:r>
            <a:r>
              <a:rPr dirty="0" sz="2000" spc="-3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heads</a:t>
            </a:r>
            <a:r>
              <a:rPr dirty="0" sz="2000" spc="-2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(Poisson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count</a:t>
            </a:r>
            <a:r>
              <a:rPr dirty="0" sz="2000" spc="-2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+</a:t>
            </a:r>
            <a:r>
              <a:rPr dirty="0" sz="2000" spc="-2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calibrated</a:t>
            </a:r>
            <a:r>
              <a:rPr dirty="0" sz="2000" spc="-4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serious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classifier),</a:t>
            </a:r>
            <a:r>
              <a:rPr dirty="0" sz="2000" spc="-5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and</a:t>
            </a:r>
            <a:r>
              <a:rPr dirty="0" sz="2000" spc="-2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executes</a:t>
            </a:r>
            <a:r>
              <a:rPr dirty="0" sz="2000" spc="-3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58606B"/>
                </a:solidFill>
                <a:latin typeface="Arial"/>
                <a:cs typeface="Arial"/>
              </a:rPr>
              <a:t>9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analytical</a:t>
            </a:r>
            <a:r>
              <a:rPr dirty="0" sz="20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context</a:t>
            </a:r>
            <a:r>
              <a:rPr dirty="0" sz="2000" spc="-6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phases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829675" y="3562350"/>
            <a:ext cx="4190365" cy="4625340"/>
            <a:chOff x="8829675" y="3562350"/>
            <a:chExt cx="4190365" cy="4625340"/>
          </a:xfrm>
        </p:grpSpPr>
        <p:sp>
          <p:nvSpPr>
            <p:cNvPr id="17" name="object 17"/>
            <p:cNvSpPr/>
            <p:nvPr/>
          </p:nvSpPr>
          <p:spPr>
            <a:xfrm>
              <a:off x="8839200" y="3571875"/>
              <a:ext cx="4171315" cy="4606290"/>
            </a:xfrm>
            <a:custGeom>
              <a:avLst/>
              <a:gdLst/>
              <a:ahLst/>
              <a:cxnLst/>
              <a:rect l="l" t="t" r="r" b="b"/>
              <a:pathLst>
                <a:path w="4171315" h="4606290">
                  <a:moveTo>
                    <a:pt x="0" y="4605908"/>
                  </a:moveTo>
                  <a:lnTo>
                    <a:pt x="4170807" y="4605908"/>
                  </a:lnTo>
                  <a:lnTo>
                    <a:pt x="4170807" y="0"/>
                  </a:lnTo>
                  <a:lnTo>
                    <a:pt x="0" y="0"/>
                  </a:lnTo>
                  <a:lnTo>
                    <a:pt x="0" y="4605908"/>
                  </a:lnTo>
                  <a:close/>
                </a:path>
              </a:pathLst>
            </a:custGeom>
            <a:ln w="19050">
              <a:solidFill>
                <a:srgbClr val="CAD0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858250" y="3571913"/>
              <a:ext cx="4152265" cy="276225"/>
            </a:xfrm>
            <a:custGeom>
              <a:avLst/>
              <a:gdLst/>
              <a:ahLst/>
              <a:cxnLst/>
              <a:rect l="l" t="t" r="r" b="b"/>
              <a:pathLst>
                <a:path w="4152265" h="276225">
                  <a:moveTo>
                    <a:pt x="4151757" y="0"/>
                  </a:moveTo>
                  <a:lnTo>
                    <a:pt x="0" y="0"/>
                  </a:lnTo>
                  <a:lnTo>
                    <a:pt x="0" y="275805"/>
                  </a:lnTo>
                  <a:lnTo>
                    <a:pt x="4151757" y="275805"/>
                  </a:lnTo>
                  <a:lnTo>
                    <a:pt x="4151757" y="0"/>
                  </a:lnTo>
                  <a:close/>
                </a:path>
              </a:pathLst>
            </a:custGeom>
            <a:solidFill>
              <a:srgbClr val="5728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052052" y="3923538"/>
            <a:ext cx="246380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25" b="1">
                <a:solidFill>
                  <a:srgbClr val="5728E4"/>
                </a:solidFill>
                <a:latin typeface="Arial"/>
                <a:cs typeface="Arial"/>
              </a:rPr>
              <a:t>PRESENTATION</a:t>
            </a:r>
            <a:endParaRPr sz="2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15348" y="4428261"/>
            <a:ext cx="3190875" cy="84645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92075" marR="85725">
              <a:lnSpc>
                <a:spcPct val="101499"/>
              </a:lnSpc>
              <a:spcBef>
                <a:spcPts val="295"/>
              </a:spcBef>
            </a:pP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scripts/build_release_da shboard.py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37752" y="5422468"/>
            <a:ext cx="3942079" cy="1473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Enriches</a:t>
            </a:r>
            <a:r>
              <a:rPr dirty="0" sz="1900" spc="-3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JSON</a:t>
            </a:r>
            <a:r>
              <a:rPr dirty="0" sz="1900" spc="-4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data</a:t>
            </a:r>
            <a:r>
              <a:rPr dirty="0" sz="1900" spc="-5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with</a:t>
            </a:r>
            <a:r>
              <a:rPr dirty="0" sz="1900" spc="-8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scenario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profiles</a:t>
            </a:r>
            <a:r>
              <a:rPr dirty="0" sz="1900" spc="-4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and</a:t>
            </a:r>
            <a:r>
              <a:rPr dirty="0" sz="1900" spc="-6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embeds</a:t>
            </a:r>
            <a:r>
              <a:rPr dirty="0" sz="1900" spc="-4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everything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directly</a:t>
            </a:r>
            <a:r>
              <a:rPr dirty="0" sz="1900" spc="-4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into</a:t>
            </a:r>
            <a:r>
              <a:rPr dirty="0" sz="1900" spc="-4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a</a:t>
            </a:r>
            <a:r>
              <a:rPr dirty="0" sz="1900" spc="-3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standalone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index.html</a:t>
            </a:r>
            <a:r>
              <a:rPr dirty="0" sz="19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UI</a:t>
            </a:r>
            <a:r>
              <a:rPr dirty="0" sz="1900" spc="-4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(Leaflet.js</a:t>
            </a:r>
            <a:r>
              <a:rPr dirty="0" sz="1900" spc="-4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+</a:t>
            </a:r>
            <a:r>
              <a:rPr dirty="0" sz="1900" spc="-5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Chart.js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900" b="1">
                <a:solidFill>
                  <a:srgbClr val="58606B"/>
                </a:solidFill>
                <a:latin typeface="Arial"/>
                <a:cs typeface="Arial"/>
              </a:rPr>
              <a:t>+</a:t>
            </a:r>
            <a:r>
              <a:rPr dirty="0" sz="1900" spc="-2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8606B"/>
                </a:solidFill>
                <a:latin typeface="Arial"/>
                <a:cs typeface="Arial"/>
              </a:rPr>
              <a:t>Cytoscape.js).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631798" y="3562350"/>
            <a:ext cx="4174490" cy="4625340"/>
            <a:chOff x="13631798" y="3562350"/>
            <a:chExt cx="4174490" cy="4625340"/>
          </a:xfrm>
        </p:grpSpPr>
        <p:sp>
          <p:nvSpPr>
            <p:cNvPr id="23" name="object 23"/>
            <p:cNvSpPr/>
            <p:nvPr/>
          </p:nvSpPr>
          <p:spPr>
            <a:xfrm>
              <a:off x="13641323" y="3571875"/>
              <a:ext cx="4152900" cy="4606290"/>
            </a:xfrm>
            <a:custGeom>
              <a:avLst/>
              <a:gdLst/>
              <a:ahLst/>
              <a:cxnLst/>
              <a:rect l="l" t="t" r="r" b="b"/>
              <a:pathLst>
                <a:path w="4152900" h="4606290">
                  <a:moveTo>
                    <a:pt x="0" y="4605908"/>
                  </a:moveTo>
                  <a:lnTo>
                    <a:pt x="4152773" y="4605908"/>
                  </a:lnTo>
                  <a:lnTo>
                    <a:pt x="4152773" y="0"/>
                  </a:lnTo>
                  <a:lnTo>
                    <a:pt x="0" y="0"/>
                  </a:lnTo>
                  <a:lnTo>
                    <a:pt x="0" y="4605908"/>
                  </a:lnTo>
                  <a:close/>
                </a:path>
              </a:pathLst>
            </a:custGeom>
            <a:ln w="19050">
              <a:solidFill>
                <a:srgbClr val="CAD0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633830" y="3572294"/>
              <a:ext cx="4172585" cy="276225"/>
            </a:xfrm>
            <a:custGeom>
              <a:avLst/>
              <a:gdLst/>
              <a:ahLst/>
              <a:cxnLst/>
              <a:rect l="l" t="t" r="r" b="b"/>
              <a:pathLst>
                <a:path w="4172584" h="276225">
                  <a:moveTo>
                    <a:pt x="4172204" y="0"/>
                  </a:moveTo>
                  <a:lnTo>
                    <a:pt x="0" y="0"/>
                  </a:lnTo>
                  <a:lnTo>
                    <a:pt x="0" y="275805"/>
                  </a:lnTo>
                  <a:lnTo>
                    <a:pt x="4172204" y="275805"/>
                  </a:lnTo>
                  <a:lnTo>
                    <a:pt x="4172204" y="0"/>
                  </a:lnTo>
                  <a:close/>
                </a:path>
              </a:pathLst>
            </a:custGeom>
            <a:solidFill>
              <a:srgbClr val="178B6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3721334" y="3945763"/>
            <a:ext cx="146875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" b="1">
                <a:solidFill>
                  <a:srgbClr val="178B62"/>
                </a:solidFill>
                <a:latin typeface="Arial"/>
                <a:cs typeface="Arial"/>
              </a:rPr>
              <a:t>RUNTIME</a:t>
            </a:r>
            <a:endParaRPr sz="2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790803" y="4503064"/>
            <a:ext cx="2571750" cy="48196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server.py</a:t>
            </a:r>
            <a:r>
              <a:rPr dirty="0" sz="20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/</a:t>
            </a:r>
            <a:r>
              <a:rPr dirty="0" sz="2000" spc="-10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AppSail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733144" y="5218887"/>
            <a:ext cx="4023995" cy="1855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Standard</a:t>
            </a:r>
            <a:r>
              <a:rPr dirty="0" sz="20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library</a:t>
            </a:r>
            <a:r>
              <a:rPr dirty="0" sz="2000" spc="-6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Python</a:t>
            </a:r>
            <a:r>
              <a:rPr dirty="0" sz="2000" spc="-1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58606B"/>
                </a:solidFill>
                <a:latin typeface="Arial"/>
                <a:cs typeface="Arial"/>
              </a:rPr>
              <a:t>HTTP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service</a:t>
            </a:r>
            <a:r>
              <a:rPr dirty="0" sz="2000" spc="-2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hosting</a:t>
            </a:r>
            <a:r>
              <a:rPr dirty="0" sz="2000" spc="-3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static</a:t>
            </a:r>
            <a:r>
              <a:rPr dirty="0" sz="2000" spc="-6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dashboard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files,</a:t>
            </a:r>
            <a:r>
              <a:rPr dirty="0" sz="2000" spc="-6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health</a:t>
            </a:r>
            <a:r>
              <a:rPr dirty="0" sz="2000" spc="-3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checks</a:t>
            </a:r>
            <a:r>
              <a:rPr dirty="0" sz="2000" spc="-2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(api/health),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and</a:t>
            </a:r>
            <a:r>
              <a:rPr dirty="0" sz="2000" spc="1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optional</a:t>
            </a:r>
            <a:r>
              <a:rPr dirty="0" sz="2000" spc="-2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token-authenticated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pipeline</a:t>
            </a:r>
            <a:r>
              <a:rPr dirty="0" sz="2000" spc="-4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refresh (/api/pipeline/run)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0991" y="5300217"/>
            <a:ext cx="2995930" cy="155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Generates</a:t>
            </a:r>
            <a:r>
              <a:rPr dirty="0" sz="2000" spc="-8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80,000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synthetic</a:t>
            </a:r>
            <a:r>
              <a:rPr dirty="0" sz="2000" spc="-5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FIR</a:t>
            </a:r>
            <a:r>
              <a:rPr dirty="0" sz="20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records (.csv.gz),</a:t>
            </a:r>
            <a:r>
              <a:rPr dirty="0" sz="2000" spc="-7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station</a:t>
            </a:r>
            <a:r>
              <a:rPr dirty="0" sz="2000" spc="-7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registry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(164</a:t>
            </a:r>
            <a:r>
              <a:rPr dirty="0" sz="2000" spc="-3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stations),</a:t>
            </a:r>
            <a:r>
              <a:rPr dirty="0" sz="20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and</a:t>
            </a:r>
            <a:r>
              <a:rPr dirty="0" sz="2000" spc="-20" b="1">
                <a:solidFill>
                  <a:srgbClr val="58606B"/>
                </a:solidFill>
                <a:latin typeface="Arial"/>
                <a:cs typeface="Arial"/>
              </a:rPr>
              <a:t> data-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gen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8606B"/>
                </a:solidFill>
                <a:latin typeface="Arial"/>
                <a:cs typeface="Arial"/>
              </a:rPr>
              <a:t>sanity</a:t>
            </a:r>
            <a:r>
              <a:rPr dirty="0" sz="2000" spc="-3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8606B"/>
                </a:solidFill>
                <a:latin typeface="Arial"/>
                <a:cs typeface="Arial"/>
              </a:rPr>
              <a:t>audits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9884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0"/>
              <a:t> </a:t>
            </a:r>
            <a:r>
              <a:rPr dirty="0"/>
              <a:t>technology</a:t>
            </a:r>
            <a:r>
              <a:rPr dirty="0" spc="-65"/>
              <a:t> </a:t>
            </a:r>
            <a:r>
              <a:rPr dirty="0"/>
              <a:t>stack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deliberately</a:t>
            </a:r>
            <a:r>
              <a:rPr dirty="0" spc="-60"/>
              <a:t> </a:t>
            </a:r>
            <a:r>
              <a:rPr dirty="0"/>
              <a:t>small,</a:t>
            </a:r>
            <a:r>
              <a:rPr dirty="0" spc="-25"/>
              <a:t> </a:t>
            </a:r>
            <a:r>
              <a:rPr dirty="0"/>
              <a:t>open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10"/>
              <a:t>reproducible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8237" y="3186112"/>
            <a:ext cx="15249525" cy="847725"/>
            <a:chOff x="1138237" y="3186112"/>
            <a:chExt cx="15249525" cy="847725"/>
          </a:xfrm>
        </p:grpSpPr>
        <p:sp>
          <p:nvSpPr>
            <p:cNvPr id="4" name="object 4"/>
            <p:cNvSpPr/>
            <p:nvPr/>
          </p:nvSpPr>
          <p:spPr>
            <a:xfrm>
              <a:off x="1143000" y="3190875"/>
              <a:ext cx="15240000" cy="838200"/>
            </a:xfrm>
            <a:custGeom>
              <a:avLst/>
              <a:gdLst/>
              <a:ahLst/>
              <a:cxnLst/>
              <a:rect l="l" t="t" r="r" b="b"/>
              <a:pathLst>
                <a:path w="15240000" h="838200">
                  <a:moveTo>
                    <a:pt x="0" y="838200"/>
                  </a:moveTo>
                  <a:lnTo>
                    <a:pt x="15240000" y="838200"/>
                  </a:lnTo>
                  <a:lnTo>
                    <a:pt x="152400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9525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43000" y="3190875"/>
              <a:ext cx="133350" cy="838200"/>
            </a:xfrm>
            <a:custGeom>
              <a:avLst/>
              <a:gdLst/>
              <a:ahLst/>
              <a:cxnLst/>
              <a:rect l="l" t="t" r="r" b="b"/>
              <a:pathLst>
                <a:path w="133350" h="838200">
                  <a:moveTo>
                    <a:pt x="13335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33350" y="83820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00A9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593850" y="3407410"/>
            <a:ext cx="355346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500" spc="-105" b="1">
                <a:solidFill>
                  <a:srgbClr val="00A99D"/>
                </a:solidFill>
                <a:latin typeface="Arial"/>
                <a:cs typeface="Arial"/>
              </a:rPr>
              <a:t>DATA</a:t>
            </a:r>
            <a:r>
              <a:rPr dirty="0" sz="2500" spc="-90" b="1">
                <a:solidFill>
                  <a:srgbClr val="00A99D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0A99D"/>
                </a:solidFill>
                <a:latin typeface="Arial"/>
                <a:cs typeface="Arial"/>
              </a:rPr>
              <a:t>&amp;</a:t>
            </a:r>
            <a:r>
              <a:rPr dirty="0" sz="2500" spc="10" b="1">
                <a:solidFill>
                  <a:srgbClr val="00A99D"/>
                </a:solidFill>
                <a:latin typeface="Arial"/>
                <a:cs typeface="Arial"/>
              </a:rPr>
              <a:t> </a:t>
            </a:r>
            <a:r>
              <a:rPr dirty="0" sz="2500" spc="-35" b="1">
                <a:solidFill>
                  <a:srgbClr val="00A99D"/>
                </a:solidFill>
                <a:latin typeface="Arial"/>
                <a:cs typeface="Arial"/>
              </a:rPr>
              <a:t>COMPUTATION</a:t>
            </a:r>
            <a:endParaRPr sz="2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3871" y="3407410"/>
            <a:ext cx="4570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Python</a:t>
            </a:r>
            <a:r>
              <a:rPr dirty="0" sz="20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3.11</a:t>
            </a:r>
            <a:r>
              <a:rPr dirty="0" sz="200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NumPy</a:t>
            </a:r>
            <a:r>
              <a:rPr dirty="0" sz="20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Pandas</a:t>
            </a:r>
            <a:r>
              <a:rPr dirty="0" sz="20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SciPy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38237" y="4348162"/>
            <a:ext cx="15249525" cy="847725"/>
            <a:chOff x="1138237" y="4348162"/>
            <a:chExt cx="15249525" cy="847725"/>
          </a:xfrm>
        </p:grpSpPr>
        <p:sp>
          <p:nvSpPr>
            <p:cNvPr id="9" name="object 9"/>
            <p:cNvSpPr/>
            <p:nvPr/>
          </p:nvSpPr>
          <p:spPr>
            <a:xfrm>
              <a:off x="1143000" y="4352925"/>
              <a:ext cx="15240000" cy="838200"/>
            </a:xfrm>
            <a:custGeom>
              <a:avLst/>
              <a:gdLst/>
              <a:ahLst/>
              <a:cxnLst/>
              <a:rect l="l" t="t" r="r" b="b"/>
              <a:pathLst>
                <a:path w="15240000" h="838200">
                  <a:moveTo>
                    <a:pt x="0" y="838200"/>
                  </a:moveTo>
                  <a:lnTo>
                    <a:pt x="15240000" y="838200"/>
                  </a:lnTo>
                  <a:lnTo>
                    <a:pt x="152400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9525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43000" y="4352925"/>
              <a:ext cx="133350" cy="838200"/>
            </a:xfrm>
            <a:custGeom>
              <a:avLst/>
              <a:gdLst/>
              <a:ahLst/>
              <a:cxnLst/>
              <a:rect l="l" t="t" r="r" b="b"/>
              <a:pathLst>
                <a:path w="133350" h="838200">
                  <a:moveTo>
                    <a:pt x="13335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33350" y="83820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2066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593850" y="4569714"/>
            <a:ext cx="323850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solidFill>
                  <a:srgbClr val="2066F3"/>
                </a:solidFill>
                <a:latin typeface="Arial"/>
                <a:cs typeface="Arial"/>
              </a:rPr>
              <a:t>MACHINE</a:t>
            </a:r>
            <a:r>
              <a:rPr dirty="0" sz="2500" spc="-105" b="1">
                <a:solidFill>
                  <a:srgbClr val="2066F3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2066F3"/>
                </a:solidFill>
                <a:latin typeface="Arial"/>
                <a:cs typeface="Arial"/>
              </a:rPr>
              <a:t>LEARNING</a:t>
            </a:r>
            <a:endParaRPr sz="2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33871" y="4569713"/>
            <a:ext cx="75171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scikit-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learn:</a:t>
            </a:r>
            <a:r>
              <a:rPr dirty="0" sz="2000" spc="-7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Gradient</a:t>
            </a:r>
            <a:r>
              <a:rPr dirty="0" sz="200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boosting,</a:t>
            </a:r>
            <a:r>
              <a:rPr dirty="0" sz="20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Calibration,</a:t>
            </a:r>
            <a:r>
              <a:rPr dirty="0" sz="2000" spc="-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DBSCAN,</a:t>
            </a:r>
            <a:r>
              <a:rPr dirty="0" sz="20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BallTree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38237" y="5510212"/>
            <a:ext cx="15249525" cy="847725"/>
            <a:chOff x="1138237" y="5510212"/>
            <a:chExt cx="15249525" cy="847725"/>
          </a:xfrm>
        </p:grpSpPr>
        <p:sp>
          <p:nvSpPr>
            <p:cNvPr id="14" name="object 14"/>
            <p:cNvSpPr/>
            <p:nvPr/>
          </p:nvSpPr>
          <p:spPr>
            <a:xfrm>
              <a:off x="1143000" y="5514975"/>
              <a:ext cx="15240000" cy="838200"/>
            </a:xfrm>
            <a:custGeom>
              <a:avLst/>
              <a:gdLst/>
              <a:ahLst/>
              <a:cxnLst/>
              <a:rect l="l" t="t" r="r" b="b"/>
              <a:pathLst>
                <a:path w="15240000" h="838200">
                  <a:moveTo>
                    <a:pt x="0" y="838200"/>
                  </a:moveTo>
                  <a:lnTo>
                    <a:pt x="15240000" y="838200"/>
                  </a:lnTo>
                  <a:lnTo>
                    <a:pt x="152400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9525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43000" y="5514975"/>
              <a:ext cx="133350" cy="838200"/>
            </a:xfrm>
            <a:custGeom>
              <a:avLst/>
              <a:gdLst/>
              <a:ahLst/>
              <a:cxnLst/>
              <a:rect l="l" t="t" r="r" b="b"/>
              <a:pathLst>
                <a:path w="133350" h="838200">
                  <a:moveTo>
                    <a:pt x="13335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33350" y="83820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5728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593850" y="5731891"/>
            <a:ext cx="353060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500" spc="-45" b="1">
                <a:solidFill>
                  <a:srgbClr val="5728E4"/>
                </a:solidFill>
                <a:latin typeface="Arial"/>
                <a:cs typeface="Arial"/>
              </a:rPr>
              <a:t>GEOSPATIAL</a:t>
            </a:r>
            <a:r>
              <a:rPr dirty="0" sz="2500" spc="-85" b="1">
                <a:solidFill>
                  <a:srgbClr val="5728E4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5728E4"/>
                </a:solidFill>
                <a:latin typeface="Arial"/>
                <a:cs typeface="Arial"/>
              </a:rPr>
              <a:t>+</a:t>
            </a:r>
            <a:r>
              <a:rPr dirty="0" sz="2500" spc="-15" b="1">
                <a:solidFill>
                  <a:srgbClr val="5728E4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5728E4"/>
                </a:solidFill>
                <a:latin typeface="Arial"/>
                <a:cs typeface="Arial"/>
              </a:rPr>
              <a:t>GRAPH</a:t>
            </a:r>
            <a:endParaRPr sz="2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33871" y="5731890"/>
            <a:ext cx="85756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Shapely</a:t>
            </a:r>
            <a:r>
              <a:rPr dirty="0" sz="20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NetworkX</a:t>
            </a:r>
            <a:r>
              <a:rPr dirty="0" sz="2000" spc="-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Haversine</a:t>
            </a:r>
            <a:r>
              <a:rPr dirty="0" sz="20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distance</a:t>
            </a:r>
            <a:r>
              <a:rPr dirty="0" sz="20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Station</a:t>
            </a:r>
            <a:r>
              <a:rPr dirty="0" sz="200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-</a:t>
            </a:r>
            <a:r>
              <a:rPr dirty="0" sz="20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area</a:t>
            </a:r>
            <a:r>
              <a:rPr dirty="0" sz="20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approximation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138237" y="6672262"/>
            <a:ext cx="15249525" cy="847725"/>
            <a:chOff x="1138237" y="6672262"/>
            <a:chExt cx="15249525" cy="847725"/>
          </a:xfrm>
        </p:grpSpPr>
        <p:sp>
          <p:nvSpPr>
            <p:cNvPr id="19" name="object 19"/>
            <p:cNvSpPr/>
            <p:nvPr/>
          </p:nvSpPr>
          <p:spPr>
            <a:xfrm>
              <a:off x="1143000" y="6677025"/>
              <a:ext cx="15240000" cy="838200"/>
            </a:xfrm>
            <a:custGeom>
              <a:avLst/>
              <a:gdLst/>
              <a:ahLst/>
              <a:cxnLst/>
              <a:rect l="l" t="t" r="r" b="b"/>
              <a:pathLst>
                <a:path w="15240000" h="838200">
                  <a:moveTo>
                    <a:pt x="0" y="838200"/>
                  </a:moveTo>
                  <a:lnTo>
                    <a:pt x="15240000" y="838200"/>
                  </a:lnTo>
                  <a:lnTo>
                    <a:pt x="152400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9525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43000" y="6677025"/>
              <a:ext cx="133350" cy="838200"/>
            </a:xfrm>
            <a:custGeom>
              <a:avLst/>
              <a:gdLst/>
              <a:ahLst/>
              <a:cxnLst/>
              <a:rect l="l" t="t" r="r" b="b"/>
              <a:pathLst>
                <a:path w="133350" h="838200">
                  <a:moveTo>
                    <a:pt x="13335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33350" y="83820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1A9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593850" y="6865366"/>
            <a:ext cx="3805554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solidFill>
                  <a:srgbClr val="F1A900"/>
                </a:solidFill>
                <a:latin typeface="Arial"/>
                <a:cs typeface="Arial"/>
              </a:rPr>
              <a:t>BROWSER</a:t>
            </a:r>
            <a:r>
              <a:rPr dirty="0" sz="2500" spc="-85" b="1">
                <a:solidFill>
                  <a:srgbClr val="F1A90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F1A900"/>
                </a:solidFill>
                <a:latin typeface="Arial"/>
                <a:cs typeface="Arial"/>
              </a:rPr>
              <a:t>EXPERIENCE</a:t>
            </a:r>
            <a:endParaRPr sz="2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33871" y="6894068"/>
            <a:ext cx="69767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HTML</a:t>
            </a:r>
            <a:r>
              <a:rPr dirty="0" sz="20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CSS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JavaScript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Leaflet</a:t>
            </a:r>
            <a:r>
              <a:rPr dirty="0" sz="200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Chart.js</a:t>
            </a:r>
            <a:r>
              <a:rPr dirty="0" sz="20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Cytoscape.js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38237" y="7834312"/>
            <a:ext cx="15249525" cy="847725"/>
            <a:chOff x="1138237" y="7834312"/>
            <a:chExt cx="15249525" cy="847725"/>
          </a:xfrm>
        </p:grpSpPr>
        <p:sp>
          <p:nvSpPr>
            <p:cNvPr id="24" name="object 24"/>
            <p:cNvSpPr/>
            <p:nvPr/>
          </p:nvSpPr>
          <p:spPr>
            <a:xfrm>
              <a:off x="1143000" y="7839075"/>
              <a:ext cx="15240000" cy="838200"/>
            </a:xfrm>
            <a:custGeom>
              <a:avLst/>
              <a:gdLst/>
              <a:ahLst/>
              <a:cxnLst/>
              <a:rect l="l" t="t" r="r" b="b"/>
              <a:pathLst>
                <a:path w="15240000" h="838200">
                  <a:moveTo>
                    <a:pt x="0" y="838200"/>
                  </a:moveTo>
                  <a:lnTo>
                    <a:pt x="15240000" y="838200"/>
                  </a:lnTo>
                  <a:lnTo>
                    <a:pt x="152400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9525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43000" y="7839075"/>
              <a:ext cx="133350" cy="838200"/>
            </a:xfrm>
            <a:custGeom>
              <a:avLst/>
              <a:gdLst/>
              <a:ahLst/>
              <a:cxnLst/>
              <a:rect l="l" t="t" r="r" b="b"/>
              <a:pathLst>
                <a:path w="133350" h="838200">
                  <a:moveTo>
                    <a:pt x="13335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33350" y="83820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78B6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466088" y="8056244"/>
            <a:ext cx="391160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500" spc="-20" b="1">
                <a:solidFill>
                  <a:srgbClr val="178B62"/>
                </a:solidFill>
                <a:latin typeface="Arial"/>
                <a:cs typeface="Arial"/>
              </a:rPr>
              <a:t>PACKAGING</a:t>
            </a:r>
            <a:r>
              <a:rPr dirty="0" sz="2500" spc="-40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178B62"/>
                </a:solidFill>
                <a:latin typeface="Arial"/>
                <a:cs typeface="Arial"/>
              </a:rPr>
              <a:t>&amp;</a:t>
            </a:r>
            <a:r>
              <a:rPr dirty="0" sz="2500" spc="-60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178B62"/>
                </a:solidFill>
                <a:latin typeface="Arial"/>
                <a:cs typeface="Arial"/>
              </a:rPr>
              <a:t>DELIVERY</a:t>
            </a:r>
            <a:endParaRPr sz="2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33871" y="8056244"/>
            <a:ext cx="8091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JSON</a:t>
            </a:r>
            <a:r>
              <a:rPr dirty="0" sz="20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gzip</a:t>
            </a:r>
            <a:r>
              <a:rPr dirty="0" sz="20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CSV</a:t>
            </a:r>
            <a:r>
              <a:rPr dirty="0" sz="20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Docker</a:t>
            </a:r>
            <a:r>
              <a:rPr dirty="0" sz="20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GitHub</a:t>
            </a:r>
            <a:r>
              <a:rPr dirty="0" sz="2000" spc="-1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Actions</a:t>
            </a:r>
            <a:r>
              <a:rPr dirty="0" sz="20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·</a:t>
            </a:r>
            <a:r>
              <a:rPr dirty="0" sz="20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11111"/>
                </a:solidFill>
                <a:latin typeface="Arial"/>
                <a:cs typeface="Arial"/>
              </a:rPr>
              <a:t>Zoho</a:t>
            </a:r>
            <a:r>
              <a:rPr dirty="0" sz="20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Catalyst</a:t>
            </a:r>
            <a:r>
              <a:rPr dirty="0" sz="2000" spc="-8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11111"/>
                </a:solidFill>
                <a:latin typeface="Arial"/>
                <a:cs typeface="Arial"/>
              </a:rPr>
              <a:t>AppSail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341" y="1764030"/>
            <a:ext cx="104457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Arial"/>
                <a:cs typeface="Arial"/>
              </a:rPr>
              <a:t>ZOHO</a:t>
            </a:r>
            <a:r>
              <a:rPr dirty="0" sz="3200" spc="-50" b="1">
                <a:latin typeface="Arial"/>
                <a:cs typeface="Arial"/>
              </a:rPr>
              <a:t> </a:t>
            </a:r>
            <a:r>
              <a:rPr dirty="0" sz="3200" spc="-90" b="1">
                <a:latin typeface="Arial"/>
                <a:cs typeface="Arial"/>
              </a:rPr>
              <a:t>CATALYST</a:t>
            </a:r>
            <a:r>
              <a:rPr dirty="0" sz="3200" spc="-5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SERVICES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USED</a:t>
            </a:r>
            <a:r>
              <a:rPr dirty="0" sz="3200" spc="-4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IN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THE</a:t>
            </a:r>
            <a:r>
              <a:rPr dirty="0" sz="3200" spc="-4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SOLUTION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34500" y="340804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00A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34500" y="476072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206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334500" y="611327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5728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334500" y="74656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399"/>
                </a:lnTo>
                <a:lnTo>
                  <a:pt x="152400" y="152399"/>
                </a:lnTo>
                <a:lnTo>
                  <a:pt x="152400" y="0"/>
                </a:lnTo>
                <a:close/>
              </a:path>
            </a:pathLst>
          </a:custGeom>
          <a:solidFill>
            <a:srgbClr val="F1A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45870" y="2535682"/>
            <a:ext cx="5193665" cy="559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10">
                <a:latin typeface="Calibri"/>
                <a:cs typeface="Calibri"/>
              </a:rPr>
              <a:t>PRIMARY</a:t>
            </a:r>
            <a:r>
              <a:rPr dirty="0" sz="3500" spc="-120">
                <a:latin typeface="Calibri"/>
                <a:cs typeface="Calibri"/>
              </a:rPr>
              <a:t> </a:t>
            </a:r>
            <a:r>
              <a:rPr dirty="0" sz="3500" spc="-125">
                <a:latin typeface="Calibri"/>
                <a:cs typeface="Calibri"/>
              </a:rPr>
              <a:t>CATALYST</a:t>
            </a:r>
            <a:r>
              <a:rPr dirty="0" sz="3500" spc="-75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SERVICE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231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dirty="0"/>
              <a:t>Runtime</a:t>
            </a:r>
            <a:r>
              <a:rPr dirty="0" spc="-40"/>
              <a:t> </a:t>
            </a:r>
            <a:r>
              <a:rPr dirty="0" spc="-10"/>
              <a:t>variables</a:t>
            </a: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Configures</a:t>
            </a:r>
            <a:r>
              <a:rPr dirty="0" sz="2000" spc="-2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35" b="0">
                <a:solidFill>
                  <a:srgbClr val="58606B"/>
                </a:solidFill>
                <a:latin typeface="Arial MT"/>
                <a:cs typeface="Arial MT"/>
              </a:rPr>
              <a:t>X_ZOHO_CATALYST_LISTEN_PORT, </a:t>
            </a:r>
            <a:r>
              <a:rPr dirty="0" sz="2000" spc="-30" b="0">
                <a:solidFill>
                  <a:srgbClr val="58606B"/>
                </a:solidFill>
                <a:latin typeface="Arial MT"/>
                <a:cs typeface="Arial MT"/>
              </a:rPr>
              <a:t>HOST,</a:t>
            </a:r>
            <a:r>
              <a:rPr dirty="0" sz="2000" spc="-1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 b="0">
                <a:solidFill>
                  <a:srgbClr val="58606B"/>
                </a:solidFill>
                <a:latin typeface="Arial MT"/>
                <a:cs typeface="Arial MT"/>
              </a:rPr>
              <a:t>ENABLE_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PIPELINE_RUN,</a:t>
            </a:r>
            <a:r>
              <a:rPr dirty="0" sz="2000" spc="-10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000" spc="-13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ADMIN_TOKEN</a:t>
            </a:r>
            <a:r>
              <a:rPr dirty="0" sz="2000" spc="-6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via</a:t>
            </a:r>
            <a:r>
              <a:rPr dirty="0" sz="2000" spc="-5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Catalyst</a:t>
            </a:r>
            <a:r>
              <a:rPr dirty="0" sz="2000" spc="-13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AppSail</a:t>
            </a:r>
            <a:r>
              <a:rPr dirty="0" sz="2000" spc="-5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 b="0">
                <a:solidFill>
                  <a:srgbClr val="58606B"/>
                </a:solidFill>
                <a:latin typeface="Arial MT"/>
                <a:cs typeface="Arial MT"/>
              </a:rPr>
              <a:t>console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/>
              <a:t>Protected</a:t>
            </a:r>
            <a:r>
              <a:rPr dirty="0" spc="-45"/>
              <a:t> </a:t>
            </a:r>
            <a:r>
              <a:rPr dirty="0" spc="-10"/>
              <a:t>execution</a:t>
            </a: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Admin</a:t>
            </a:r>
            <a:r>
              <a:rPr dirty="0" sz="2000" spc="-2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refresh</a:t>
            </a:r>
            <a:r>
              <a:rPr dirty="0" sz="2000" spc="-6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endpoint</a:t>
            </a:r>
            <a:r>
              <a:rPr dirty="0" sz="2000" spc="-3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(/api/pipeline/run)</a:t>
            </a:r>
            <a:r>
              <a:rPr dirty="0" sz="2000" spc="-6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requires</a:t>
            </a:r>
            <a:r>
              <a:rPr dirty="0" sz="2000" spc="-4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 b="0">
                <a:solidFill>
                  <a:srgbClr val="58606B"/>
                </a:solidFill>
                <a:latin typeface="Arial MT"/>
                <a:cs typeface="Arial MT"/>
              </a:rPr>
              <a:t>ENABLE_PIPELINE_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RUN=1</a:t>
            </a:r>
            <a:r>
              <a:rPr dirty="0" sz="2000" spc="-4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000" spc="-2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 b="0">
                <a:solidFill>
                  <a:srgbClr val="58606B"/>
                </a:solidFill>
                <a:latin typeface="Arial MT"/>
                <a:cs typeface="Arial MT"/>
              </a:rPr>
              <a:t>X-Admin-</a:t>
            </a:r>
            <a:r>
              <a:rPr dirty="0" sz="2000" spc="-35" b="0">
                <a:solidFill>
                  <a:srgbClr val="58606B"/>
                </a:solidFill>
                <a:latin typeface="Arial MT"/>
                <a:cs typeface="Arial MT"/>
              </a:rPr>
              <a:t>Token</a:t>
            </a:r>
            <a:r>
              <a:rPr dirty="0" sz="2000" spc="-4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or</a:t>
            </a:r>
            <a:r>
              <a:rPr dirty="0" sz="2000" spc="-3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b="0">
                <a:solidFill>
                  <a:srgbClr val="58606B"/>
                </a:solidFill>
                <a:latin typeface="Arial MT"/>
                <a:cs typeface="Arial MT"/>
              </a:rPr>
              <a:t>Bearer</a:t>
            </a:r>
            <a:r>
              <a:rPr dirty="0" sz="2000" spc="-2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000" spc="-10" b="0">
                <a:solidFill>
                  <a:srgbClr val="58606B"/>
                </a:solidFill>
                <a:latin typeface="Arial MT"/>
                <a:cs typeface="Arial MT"/>
              </a:rPr>
              <a:t>authentication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/>
              <a:t>Atomic</a:t>
            </a:r>
            <a:r>
              <a:rPr dirty="0" spc="-35"/>
              <a:t> </a:t>
            </a:r>
            <a:r>
              <a:rPr dirty="0" spc="-10"/>
              <a:t>publication</a:t>
            </a: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Rebuilds</a:t>
            </a:r>
            <a:r>
              <a:rPr dirty="0" sz="2300" spc="-5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occur</a:t>
            </a:r>
            <a:r>
              <a:rPr dirty="0" sz="2300" spc="-3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under</a:t>
            </a:r>
            <a:r>
              <a:rPr dirty="0" sz="2300" spc="-6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runtime/</a:t>
            </a:r>
            <a:r>
              <a:rPr dirty="0" sz="2300" spc="-5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before</a:t>
            </a:r>
            <a:r>
              <a:rPr dirty="0" sz="2300" spc="-4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JSON</a:t>
            </a:r>
            <a:r>
              <a:rPr dirty="0" sz="2300" spc="-1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300" spc="-5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HTML</a:t>
            </a:r>
            <a:r>
              <a:rPr dirty="0" sz="2300" spc="-11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spc="-25" b="0">
                <a:solidFill>
                  <a:srgbClr val="58606B"/>
                </a:solidFill>
                <a:latin typeface="Arial MT"/>
                <a:cs typeface="Arial MT"/>
              </a:rPr>
              <a:t>are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300" spc="-10" b="0">
                <a:solidFill>
                  <a:srgbClr val="58606B"/>
                </a:solidFill>
                <a:latin typeface="Arial MT"/>
                <a:cs typeface="Arial MT"/>
              </a:rPr>
              <a:t>replaced.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/>
              <a:t>Future</a:t>
            </a:r>
            <a:r>
              <a:rPr dirty="0" spc="-65"/>
              <a:t> </a:t>
            </a:r>
            <a:r>
              <a:rPr dirty="0"/>
              <a:t>Catalyst</a:t>
            </a:r>
            <a:r>
              <a:rPr dirty="0" spc="-20"/>
              <a:t> </a:t>
            </a:r>
            <a:r>
              <a:rPr dirty="0" spc="-10"/>
              <a:t>services</a:t>
            </a: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Object</a:t>
            </a:r>
            <a:r>
              <a:rPr dirty="0" sz="2300" spc="-5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storage,</a:t>
            </a:r>
            <a:r>
              <a:rPr dirty="0" sz="2300" spc="-5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scheduled</a:t>
            </a:r>
            <a:r>
              <a:rPr dirty="0" sz="2300" spc="-7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jobs</a:t>
            </a:r>
            <a:r>
              <a:rPr dirty="0" sz="2300" spc="-4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and</a:t>
            </a:r>
            <a:r>
              <a:rPr dirty="0" sz="2300" spc="-4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managed</a:t>
            </a:r>
            <a:r>
              <a:rPr dirty="0" sz="2300" spc="-7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data</a:t>
            </a:r>
            <a:r>
              <a:rPr dirty="0" sz="2300" spc="-4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spc="-10" b="0">
                <a:solidFill>
                  <a:srgbClr val="58606B"/>
                </a:solidFill>
                <a:latin typeface="Arial MT"/>
                <a:cs typeface="Arial MT"/>
              </a:rPr>
              <a:t>services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are</a:t>
            </a:r>
            <a:r>
              <a:rPr dirty="0" sz="2300" spc="-4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not</a:t>
            </a:r>
            <a:r>
              <a:rPr dirty="0" sz="2300" spc="-2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required</a:t>
            </a:r>
            <a:r>
              <a:rPr dirty="0" sz="2300" spc="-65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b="0">
                <a:solidFill>
                  <a:srgbClr val="58606B"/>
                </a:solidFill>
                <a:latin typeface="Arial MT"/>
                <a:cs typeface="Arial MT"/>
              </a:rPr>
              <a:t>by</a:t>
            </a:r>
            <a:r>
              <a:rPr dirty="0" sz="2300" spc="-20" b="0">
                <a:solidFill>
                  <a:srgbClr val="58606B"/>
                </a:solidFill>
                <a:latin typeface="Arial MT"/>
                <a:cs typeface="Arial MT"/>
              </a:rPr>
              <a:t> </a:t>
            </a:r>
            <a:r>
              <a:rPr dirty="0" sz="2300" spc="-25" b="0">
                <a:solidFill>
                  <a:srgbClr val="58606B"/>
                </a:solidFill>
                <a:latin typeface="Arial MT"/>
                <a:cs typeface="Arial MT"/>
              </a:rPr>
              <a:t>V8.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3000" y="3333750"/>
            <a:ext cx="6858000" cy="4476750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550">
              <a:latin typeface="Times New Roman"/>
              <a:cs typeface="Times New Roman"/>
            </a:endParaRPr>
          </a:p>
          <a:p>
            <a:pPr marL="567690">
              <a:lnSpc>
                <a:spcPct val="100000"/>
              </a:lnSpc>
            </a:pPr>
            <a:r>
              <a:rPr dirty="0" sz="1550" b="1">
                <a:solidFill>
                  <a:srgbClr val="00A99D"/>
                </a:solidFill>
                <a:latin typeface="Arial"/>
                <a:cs typeface="Arial"/>
              </a:rPr>
              <a:t>USED</a:t>
            </a:r>
            <a:r>
              <a:rPr dirty="0" sz="1550" spc="20" b="1">
                <a:solidFill>
                  <a:srgbClr val="00A99D"/>
                </a:solidFill>
                <a:latin typeface="Arial"/>
                <a:cs typeface="Arial"/>
              </a:rPr>
              <a:t> </a:t>
            </a:r>
            <a:r>
              <a:rPr dirty="0" sz="1550" spc="-25" b="1">
                <a:solidFill>
                  <a:srgbClr val="00A99D"/>
                </a:solidFill>
                <a:latin typeface="Arial"/>
                <a:cs typeface="Arial"/>
              </a:rPr>
              <a:t>NOW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550">
              <a:latin typeface="Arial"/>
              <a:cs typeface="Arial"/>
            </a:endParaRPr>
          </a:p>
          <a:p>
            <a:pPr marL="313055">
              <a:lnSpc>
                <a:spcPct val="100000"/>
              </a:lnSpc>
            </a:pPr>
            <a:r>
              <a:rPr dirty="0" sz="4350" spc="-10" b="1">
                <a:solidFill>
                  <a:srgbClr val="111111"/>
                </a:solidFill>
                <a:latin typeface="Arial"/>
                <a:cs typeface="Arial"/>
              </a:rPr>
              <a:t>AppSail</a:t>
            </a:r>
            <a:endParaRPr sz="4350">
              <a:latin typeface="Arial"/>
              <a:cs typeface="Arial"/>
            </a:endParaRPr>
          </a:p>
          <a:p>
            <a:pPr marL="384810">
              <a:lnSpc>
                <a:spcPct val="100000"/>
              </a:lnSpc>
              <a:spcBef>
                <a:spcPts val="1125"/>
              </a:spcBef>
            </a:pPr>
            <a:r>
              <a:rPr dirty="0" sz="2500" b="1">
                <a:latin typeface="Calibri"/>
                <a:cs typeface="Calibri"/>
              </a:rPr>
              <a:t>ZOHO</a:t>
            </a:r>
            <a:r>
              <a:rPr dirty="0" sz="2500" spc="-90" b="1">
                <a:latin typeface="Calibri"/>
                <a:cs typeface="Calibri"/>
              </a:rPr>
              <a:t> </a:t>
            </a:r>
            <a:r>
              <a:rPr dirty="0" sz="2500" spc="-95" b="1">
                <a:latin typeface="Calibri"/>
                <a:cs typeface="Calibri"/>
              </a:rPr>
              <a:t>CATALYST</a:t>
            </a:r>
            <a:r>
              <a:rPr dirty="0" sz="2500" spc="-45" b="1">
                <a:latin typeface="Calibri"/>
                <a:cs typeface="Calibri"/>
              </a:rPr>
              <a:t> </a:t>
            </a:r>
            <a:r>
              <a:rPr dirty="0" sz="2500" b="1">
                <a:latin typeface="Calibri"/>
                <a:cs typeface="Calibri"/>
              </a:rPr>
              <a:t>APPSAIL</a:t>
            </a:r>
            <a:r>
              <a:rPr dirty="0" sz="2500" spc="-70" b="1">
                <a:latin typeface="Calibri"/>
                <a:cs typeface="Calibri"/>
              </a:rPr>
              <a:t> </a:t>
            </a:r>
            <a:r>
              <a:rPr dirty="0" sz="2500" b="1">
                <a:latin typeface="Calibri"/>
                <a:cs typeface="Calibri"/>
              </a:rPr>
              <a:t>(USED</a:t>
            </a:r>
            <a:r>
              <a:rPr dirty="0" sz="2500" spc="-55" b="1">
                <a:latin typeface="Calibri"/>
                <a:cs typeface="Calibri"/>
              </a:rPr>
              <a:t> </a:t>
            </a:r>
            <a:r>
              <a:rPr dirty="0" sz="2500" b="1">
                <a:latin typeface="Calibri"/>
                <a:cs typeface="Calibri"/>
              </a:rPr>
              <a:t>NOW</a:t>
            </a:r>
            <a:r>
              <a:rPr dirty="0" sz="2500" spc="-70" b="1">
                <a:latin typeface="Calibri"/>
                <a:cs typeface="Calibri"/>
              </a:rPr>
              <a:t> </a:t>
            </a:r>
            <a:r>
              <a:rPr dirty="0" sz="2500" spc="-50" b="1">
                <a:latin typeface="Calibri"/>
                <a:cs typeface="Calibri"/>
              </a:rPr>
              <a:t>)</a:t>
            </a:r>
            <a:endParaRPr sz="2500">
              <a:latin typeface="Calibri"/>
              <a:cs typeface="Calibri"/>
            </a:endParaRPr>
          </a:p>
          <a:p>
            <a:pPr marL="541655" indent="-228600">
              <a:lnSpc>
                <a:spcPct val="100000"/>
              </a:lnSpc>
              <a:spcBef>
                <a:spcPts val="3000"/>
              </a:spcBef>
              <a:buChar char="•"/>
              <a:tabLst>
                <a:tab pos="541655" algn="l"/>
              </a:tabLst>
            </a:pPr>
            <a:r>
              <a:rPr dirty="0" sz="2500" spc="-25">
                <a:latin typeface="Calibri"/>
                <a:cs typeface="Calibri"/>
              </a:rPr>
              <a:t>Docker-</a:t>
            </a:r>
            <a:r>
              <a:rPr dirty="0" sz="2500">
                <a:latin typeface="Calibri"/>
                <a:cs typeface="Calibri"/>
              </a:rPr>
              <a:t>based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Python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microservice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(server.py)</a:t>
            </a:r>
            <a:endParaRPr sz="2500">
              <a:latin typeface="Calibri"/>
              <a:cs typeface="Calibri"/>
            </a:endParaRPr>
          </a:p>
          <a:p>
            <a:pPr marL="541655" indent="-228600">
              <a:lnSpc>
                <a:spcPct val="100000"/>
              </a:lnSpc>
              <a:buChar char="•"/>
              <a:tabLst>
                <a:tab pos="541655" algn="l"/>
              </a:tabLst>
            </a:pPr>
            <a:r>
              <a:rPr dirty="0" sz="2500">
                <a:latin typeface="Calibri"/>
                <a:cs typeface="Calibri"/>
              </a:rPr>
              <a:t>Static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Dashboard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+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REST</a:t>
            </a:r>
            <a:endParaRPr sz="2500">
              <a:latin typeface="Calibri"/>
              <a:cs typeface="Calibri"/>
            </a:endParaRPr>
          </a:p>
          <a:p>
            <a:pPr marL="541655" indent="-228600">
              <a:lnSpc>
                <a:spcPct val="100000"/>
              </a:lnSpc>
              <a:buChar char="•"/>
              <a:tabLst>
                <a:tab pos="541655" algn="l"/>
              </a:tabLst>
            </a:pPr>
            <a:r>
              <a:rPr dirty="0" sz="2500">
                <a:latin typeface="Calibri"/>
                <a:cs typeface="Calibri"/>
              </a:rPr>
              <a:t>Zero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cloud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DB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dependencies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6352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dirty="0"/>
              <a:t>Prototype</a:t>
            </a:r>
            <a:r>
              <a:rPr dirty="0" spc="-65"/>
              <a:t> </a:t>
            </a:r>
            <a:r>
              <a:rPr dirty="0"/>
              <a:t>cost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low;</a:t>
            </a:r>
            <a:r>
              <a:rPr dirty="0" spc="-40"/>
              <a:t> </a:t>
            </a:r>
            <a:r>
              <a:rPr dirty="0"/>
              <a:t>production</a:t>
            </a:r>
            <a:r>
              <a:rPr dirty="0" spc="-75"/>
              <a:t> </a:t>
            </a:r>
            <a:r>
              <a:rPr dirty="0"/>
              <a:t>cost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/>
              <a:t>driven</a:t>
            </a:r>
            <a:r>
              <a:rPr dirty="0" spc="-40"/>
              <a:t> </a:t>
            </a:r>
            <a:r>
              <a:rPr dirty="0"/>
              <a:t>by</a:t>
            </a:r>
            <a:r>
              <a:rPr dirty="0" spc="-45"/>
              <a:t> </a:t>
            </a:r>
            <a:r>
              <a:rPr dirty="0"/>
              <a:t>refresh</a:t>
            </a:r>
            <a:r>
              <a:rPr dirty="0" spc="-40"/>
              <a:t> </a:t>
            </a:r>
            <a:r>
              <a:rPr dirty="0"/>
              <a:t>frequency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10"/>
              <a:t>governance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43000" y="3398551"/>
          <a:ext cx="15316200" cy="4358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0825"/>
                <a:gridCol w="3048634"/>
                <a:gridCol w="8130540"/>
              </a:tblGrid>
              <a:tr h="1010919">
                <a:tc>
                  <a:txBody>
                    <a:bodyPr/>
                    <a:lstStyle/>
                    <a:p>
                      <a:pPr marL="91440">
                        <a:lnSpc>
                          <a:spcPts val="2790"/>
                        </a:lnSpc>
                      </a:pPr>
                      <a:r>
                        <a:rPr dirty="0" sz="250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Prototype</a:t>
                      </a:r>
                      <a:r>
                        <a:rPr dirty="0" sz="2500" spc="-12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500" spc="-1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build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19050">
                      <a:solidFill>
                        <a:srgbClr val="D6DB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2615">
                        <a:lnSpc>
                          <a:spcPts val="2790"/>
                        </a:lnSpc>
                      </a:pPr>
                      <a:r>
                        <a:rPr dirty="0" sz="2500" spc="-25" b="1">
                          <a:solidFill>
                            <a:srgbClr val="178B62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19050">
                      <a:solidFill>
                        <a:srgbClr val="D6DB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6730">
                        <a:lnSpc>
                          <a:spcPts val="2545"/>
                        </a:lnSpc>
                      </a:pP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Bundled</a:t>
                      </a:r>
                      <a:r>
                        <a:rPr dirty="0" sz="2300" spc="-6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2300" spc="-3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2300" spc="-1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outputs;</a:t>
                      </a:r>
                      <a:r>
                        <a:rPr dirty="0" sz="2300" spc="-4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static</a:t>
                      </a:r>
                      <a:r>
                        <a:rPr dirty="0" sz="2300" spc="-3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file</a:t>
                      </a:r>
                      <a:r>
                        <a:rPr dirty="0" sz="2300" spc="-2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1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serving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B w="19050">
                      <a:solidFill>
                        <a:srgbClr val="D6DBDF"/>
                      </a:solidFill>
                      <a:prstDash val="solid"/>
                    </a:lnB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25"/>
                        </a:spcBef>
                      </a:pPr>
                      <a:r>
                        <a:rPr dirty="0" sz="250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Hosted</a:t>
                      </a:r>
                      <a:r>
                        <a:rPr dirty="0" sz="2500" spc="-75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500" spc="-1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demonstration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295275">
                    <a:lnT w="19050">
                      <a:solidFill>
                        <a:srgbClr val="D6DBDF"/>
                      </a:solidFill>
                      <a:prstDash val="solid"/>
                    </a:lnT>
                    <a:lnB w="19050">
                      <a:solidFill>
                        <a:srgbClr val="D6DB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2615">
                        <a:lnSpc>
                          <a:spcPct val="100000"/>
                        </a:lnSpc>
                        <a:spcBef>
                          <a:spcPts val="2325"/>
                        </a:spcBef>
                      </a:pPr>
                      <a:r>
                        <a:rPr dirty="0" sz="2500" spc="-25" b="1">
                          <a:solidFill>
                            <a:srgbClr val="00A99D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295275">
                    <a:lnT w="19050">
                      <a:solidFill>
                        <a:srgbClr val="D6DBDF"/>
                      </a:solidFill>
                      <a:prstDash val="solid"/>
                    </a:lnT>
                    <a:lnB w="19050">
                      <a:solidFill>
                        <a:srgbClr val="D6DB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6730">
                        <a:lnSpc>
                          <a:spcPct val="100000"/>
                        </a:lnSpc>
                        <a:spcBef>
                          <a:spcPts val="2320"/>
                        </a:spcBef>
                      </a:pP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2300" spc="-3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containerized</a:t>
                      </a:r>
                      <a:r>
                        <a:rPr dirty="0" sz="2300" spc="-6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1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Catalyst</a:t>
                      </a:r>
                      <a:r>
                        <a:rPr dirty="0" sz="2300" spc="-15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AppSail</a:t>
                      </a:r>
                      <a:r>
                        <a:rPr dirty="0" sz="2300" spc="-2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1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instance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294640">
                    <a:lnT w="19050">
                      <a:solidFill>
                        <a:srgbClr val="D6DBDF"/>
                      </a:solidFill>
                      <a:prstDash val="solid"/>
                    </a:lnT>
                    <a:lnB w="19050">
                      <a:solidFill>
                        <a:srgbClr val="D6DBDF"/>
                      </a:solidFill>
                      <a:prstDash val="solid"/>
                    </a:lnB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30"/>
                        </a:spcBef>
                      </a:pPr>
                      <a:r>
                        <a:rPr dirty="0" sz="250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Operational</a:t>
                      </a:r>
                      <a:r>
                        <a:rPr dirty="0" sz="2500" spc="-13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500" spc="-1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pilot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295910">
                    <a:lnT w="19050">
                      <a:solidFill>
                        <a:srgbClr val="D6DBDF"/>
                      </a:solidFill>
                      <a:prstDash val="solid"/>
                    </a:lnT>
                    <a:lnB w="19050">
                      <a:solidFill>
                        <a:srgbClr val="D6DB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2615">
                        <a:lnSpc>
                          <a:spcPct val="100000"/>
                        </a:lnSpc>
                        <a:spcBef>
                          <a:spcPts val="2330"/>
                        </a:spcBef>
                      </a:pPr>
                      <a:r>
                        <a:rPr dirty="0" sz="2500" spc="-10" b="1">
                          <a:solidFill>
                            <a:srgbClr val="F1A900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295910">
                    <a:lnT w="19050">
                      <a:solidFill>
                        <a:srgbClr val="D6DBDF"/>
                      </a:solidFill>
                      <a:prstDash val="solid"/>
                    </a:lnT>
                    <a:lnB w="19050">
                      <a:solidFill>
                        <a:srgbClr val="D6DB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6730" marR="1257935">
                        <a:lnSpc>
                          <a:spcPct val="100000"/>
                        </a:lnSpc>
                        <a:spcBef>
                          <a:spcPts val="2325"/>
                        </a:spcBef>
                      </a:pP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Authoritative</a:t>
                      </a:r>
                      <a:r>
                        <a:rPr dirty="0" sz="2300" spc="-5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live</a:t>
                      </a:r>
                      <a:r>
                        <a:rPr dirty="0" sz="2300" spc="-2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2300" spc="-3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1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ingestion,</a:t>
                      </a:r>
                      <a:r>
                        <a:rPr dirty="0" sz="2300" spc="-15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dirty="0" sz="2300" spc="-16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1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Controls,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Monitoring</a:t>
                      </a:r>
                      <a:r>
                        <a:rPr dirty="0" sz="2300" spc="-7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300" spc="-4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Scheduled</a:t>
                      </a:r>
                      <a:r>
                        <a:rPr dirty="0" sz="2300" spc="-8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1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refresh.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295275">
                    <a:lnT w="19050">
                      <a:solidFill>
                        <a:srgbClr val="D6DBDF"/>
                      </a:solidFill>
                      <a:prstDash val="solid"/>
                    </a:lnT>
                    <a:lnB w="19050">
                      <a:solidFill>
                        <a:srgbClr val="D6DBDF"/>
                      </a:solidFill>
                      <a:prstDash val="solid"/>
                    </a:lnB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marL="91440">
                        <a:lnSpc>
                          <a:spcPts val="2930"/>
                        </a:lnSpc>
                        <a:spcBef>
                          <a:spcPts val="2325"/>
                        </a:spcBef>
                      </a:pPr>
                      <a:r>
                        <a:rPr dirty="0" sz="250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Statewide</a:t>
                      </a:r>
                      <a:r>
                        <a:rPr dirty="0" sz="2500" spc="-105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500" spc="-1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production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295275">
                    <a:lnT w="19050">
                      <a:solidFill>
                        <a:srgbClr val="D6DBD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2615">
                        <a:lnSpc>
                          <a:spcPts val="2930"/>
                        </a:lnSpc>
                        <a:spcBef>
                          <a:spcPts val="2325"/>
                        </a:spcBef>
                      </a:pPr>
                      <a:r>
                        <a:rPr dirty="0" sz="2500" b="1">
                          <a:solidFill>
                            <a:srgbClr val="D54545"/>
                          </a:solidFill>
                          <a:latin typeface="Arial"/>
                          <a:cs typeface="Arial"/>
                        </a:rPr>
                        <a:t>Needs</a:t>
                      </a:r>
                      <a:r>
                        <a:rPr dirty="0" sz="2500" spc="-25" b="1">
                          <a:solidFill>
                            <a:srgbClr val="D5454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500" spc="-10" b="1">
                          <a:solidFill>
                            <a:srgbClr val="D54545"/>
                          </a:solidFill>
                          <a:latin typeface="Arial"/>
                          <a:cs typeface="Arial"/>
                        </a:rPr>
                        <a:t>sizing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295275">
                    <a:lnT w="19050">
                      <a:solidFill>
                        <a:srgbClr val="D6DBD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6730">
                        <a:lnSpc>
                          <a:spcPct val="100000"/>
                        </a:lnSpc>
                        <a:spcBef>
                          <a:spcPts val="2325"/>
                        </a:spcBef>
                      </a:pP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Statewide</a:t>
                      </a:r>
                      <a:r>
                        <a:rPr dirty="0" sz="2300" spc="-6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HA</a:t>
                      </a:r>
                      <a:r>
                        <a:rPr dirty="0" sz="2300" spc="-145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hosting,</a:t>
                      </a:r>
                      <a:r>
                        <a:rPr dirty="0" sz="2300" spc="-6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security</a:t>
                      </a:r>
                      <a:r>
                        <a:rPr dirty="0" sz="2300" spc="-6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2300" spc="-2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24/7</a:t>
                      </a:r>
                      <a:r>
                        <a:rPr dirty="0" sz="2300" spc="-5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20">
                          <a:solidFill>
                            <a:srgbClr val="58606B"/>
                          </a:solidFill>
                          <a:latin typeface="Arial MT"/>
                          <a:cs typeface="Arial MT"/>
                        </a:rPr>
                        <a:t>SLA.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295275">
                    <a:lnT w="19050">
                      <a:solidFill>
                        <a:srgbClr val="D6DBD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43000" y="8401050"/>
            <a:ext cx="15240000" cy="19050"/>
          </a:xfrm>
          <a:custGeom>
            <a:avLst/>
            <a:gdLst/>
            <a:ahLst/>
            <a:cxnLst/>
            <a:rect l="l" t="t" r="r" b="b"/>
            <a:pathLst>
              <a:path w="15240000" h="19050">
                <a:moveTo>
                  <a:pt x="15240000" y="0"/>
                </a:moveTo>
                <a:lnTo>
                  <a:pt x="0" y="0"/>
                </a:lnTo>
                <a:lnTo>
                  <a:pt x="0" y="19050"/>
                </a:lnTo>
                <a:lnTo>
                  <a:pt x="15240000" y="19050"/>
                </a:lnTo>
                <a:lnTo>
                  <a:pt x="15240000" y="0"/>
                </a:lnTo>
                <a:close/>
              </a:path>
            </a:pathLst>
          </a:custGeom>
          <a:solidFill>
            <a:srgbClr val="D6DBD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4071" y="1085849"/>
            <a:ext cx="462788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Snapshots</a:t>
            </a:r>
            <a:r>
              <a:rPr dirty="0" spc="-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5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prototype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618" y="5323713"/>
            <a:ext cx="37750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A99D"/>
                </a:solidFill>
                <a:latin typeface="Arial"/>
                <a:cs typeface="Arial"/>
              </a:rPr>
              <a:t>MAP</a:t>
            </a:r>
            <a:r>
              <a:rPr dirty="0" sz="2000" spc="-70" b="1">
                <a:solidFill>
                  <a:srgbClr val="00A99D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A99D"/>
                </a:solidFill>
                <a:latin typeface="Arial"/>
                <a:cs typeface="Arial"/>
              </a:rPr>
              <a:t>+</a:t>
            </a:r>
            <a:r>
              <a:rPr dirty="0" sz="2000" spc="-65" b="1">
                <a:solidFill>
                  <a:srgbClr val="00A99D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A99D"/>
                </a:solidFill>
                <a:latin typeface="Arial"/>
                <a:cs typeface="Arial"/>
              </a:rPr>
              <a:t>SCENARIO</a:t>
            </a:r>
            <a:r>
              <a:rPr dirty="0" sz="2000" spc="-60" b="1">
                <a:solidFill>
                  <a:srgbClr val="00A99D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A99D"/>
                </a:solidFill>
                <a:latin typeface="Arial"/>
                <a:cs typeface="Arial"/>
              </a:rPr>
              <a:t>SIMULATOR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448" y="5274945"/>
            <a:ext cx="54102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" b="1">
                <a:solidFill>
                  <a:srgbClr val="5728E4"/>
                </a:solidFill>
                <a:latin typeface="Arial"/>
                <a:cs typeface="Arial"/>
              </a:rPr>
              <a:t>FILTERED</a:t>
            </a:r>
            <a:r>
              <a:rPr dirty="0" sz="2000" spc="-55" b="1">
                <a:solidFill>
                  <a:srgbClr val="5728E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728E4"/>
                </a:solidFill>
                <a:latin typeface="Arial"/>
                <a:cs typeface="Arial"/>
              </a:rPr>
              <a:t>CYBER</a:t>
            </a:r>
            <a:r>
              <a:rPr dirty="0" sz="2000" spc="-50" b="1">
                <a:solidFill>
                  <a:srgbClr val="5728E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728E4"/>
                </a:solidFill>
                <a:latin typeface="Arial"/>
                <a:cs typeface="Arial"/>
              </a:rPr>
              <a:t>NETWORK</a:t>
            </a:r>
            <a:r>
              <a:rPr dirty="0" sz="2000" spc="-65" b="1">
                <a:solidFill>
                  <a:srgbClr val="5728E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728E4"/>
                </a:solidFill>
                <a:latin typeface="Arial"/>
                <a:cs typeface="Arial"/>
              </a:rPr>
              <a:t>+</a:t>
            </a:r>
            <a:r>
              <a:rPr dirty="0" sz="2000" spc="-75" b="1">
                <a:solidFill>
                  <a:srgbClr val="5728E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728E4"/>
                </a:solidFill>
                <a:latin typeface="Arial"/>
                <a:cs typeface="Arial"/>
              </a:rPr>
              <a:t>ROUTE</a:t>
            </a:r>
            <a:r>
              <a:rPr dirty="0" sz="2000" spc="-60" b="1">
                <a:solidFill>
                  <a:srgbClr val="5728E4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5728E4"/>
                </a:solidFill>
                <a:latin typeface="Arial"/>
                <a:cs typeface="Arial"/>
              </a:rPr>
              <a:t>MAP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53" y="1616583"/>
            <a:ext cx="5627370" cy="3657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95594" y="1638173"/>
            <a:ext cx="5848096" cy="36692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40082" y="1646682"/>
            <a:ext cx="6078601" cy="36400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79960" y="5253354"/>
            <a:ext cx="59467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DISTRICT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WISE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PREDICTIVE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ACCURACY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INDEX.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6771" y="5766561"/>
            <a:ext cx="12764643" cy="429183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3071475" y="6229857"/>
            <a:ext cx="4593590" cy="2007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25" b="1">
                <a:latin typeface="Arial"/>
                <a:cs typeface="Arial"/>
              </a:rPr>
              <a:t>Trend</a:t>
            </a:r>
            <a:r>
              <a:rPr dirty="0" sz="2600" spc="-16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Analysis</a:t>
            </a:r>
            <a:r>
              <a:rPr dirty="0" sz="2600" spc="-60" b="1">
                <a:latin typeface="Arial"/>
                <a:cs typeface="Arial"/>
              </a:rPr>
              <a:t> </a:t>
            </a:r>
            <a:r>
              <a:rPr dirty="0" sz="2600" spc="-50" b="1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6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600" b="1">
                <a:latin typeface="Arial"/>
                <a:cs typeface="Arial"/>
              </a:rPr>
              <a:t>Monthly</a:t>
            </a:r>
            <a:r>
              <a:rPr dirty="0" sz="2600" spc="-3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incident</a:t>
            </a:r>
            <a:r>
              <a:rPr dirty="0" sz="2600" spc="-3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history</a:t>
            </a:r>
            <a:endParaRPr sz="26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600" b="1">
                <a:latin typeface="Arial"/>
                <a:cs typeface="Arial"/>
              </a:rPr>
              <a:t>Month</a:t>
            </a:r>
            <a:r>
              <a:rPr dirty="0" sz="2600" spc="-5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Crime</a:t>
            </a:r>
            <a:r>
              <a:rPr dirty="0" sz="2600" spc="-1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rate </a:t>
            </a:r>
            <a:r>
              <a:rPr dirty="0" sz="2600" spc="-10" b="1">
                <a:latin typeface="Arial"/>
                <a:cs typeface="Arial"/>
              </a:rPr>
              <a:t>index</a:t>
            </a:r>
            <a:endParaRPr sz="26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600" b="1">
                <a:latin typeface="Arial"/>
                <a:cs typeface="Arial"/>
              </a:rPr>
              <a:t>Weekday</a:t>
            </a:r>
            <a:r>
              <a:rPr dirty="0" sz="2600" spc="-6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Crime</a:t>
            </a:r>
            <a:r>
              <a:rPr dirty="0" sz="2600" spc="-4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rate</a:t>
            </a:r>
            <a:r>
              <a:rPr dirty="0" sz="2600" spc="-5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index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867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dirty="0" sz="3500"/>
              <a:t>Prototype</a:t>
            </a:r>
            <a:r>
              <a:rPr dirty="0" sz="3500" spc="-65"/>
              <a:t> </a:t>
            </a:r>
            <a:r>
              <a:rPr dirty="0" sz="3500"/>
              <a:t>Performance</a:t>
            </a:r>
            <a:r>
              <a:rPr dirty="0" sz="3500" spc="-55"/>
              <a:t> </a:t>
            </a:r>
            <a:r>
              <a:rPr dirty="0" sz="3500" spc="-10"/>
              <a:t>Benchmarking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396341" y="2809493"/>
            <a:ext cx="689990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Arial"/>
                <a:cs typeface="Arial"/>
              </a:rPr>
              <a:t>COUNT</a:t>
            </a:r>
            <a:r>
              <a:rPr dirty="0" sz="2800" spc="-16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FORECAST</a:t>
            </a:r>
            <a:r>
              <a:rPr dirty="0" sz="2800" spc="-15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BENCHMARK</a:t>
            </a:r>
            <a:r>
              <a:rPr dirty="0" sz="2800" spc="-13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(MAE)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39" y="3874134"/>
            <a:ext cx="21570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Pipeline</a:t>
            </a:r>
            <a:r>
              <a:rPr dirty="0" sz="240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71987" y="3814762"/>
            <a:ext cx="4384040" cy="295275"/>
            <a:chOff x="4471987" y="3814762"/>
            <a:chExt cx="4384040" cy="295275"/>
          </a:xfrm>
        </p:grpSpPr>
        <p:sp>
          <p:nvSpPr>
            <p:cNvPr id="6" name="object 6"/>
            <p:cNvSpPr/>
            <p:nvPr/>
          </p:nvSpPr>
          <p:spPr>
            <a:xfrm>
              <a:off x="4476750" y="3819525"/>
              <a:ext cx="4374515" cy="285750"/>
            </a:xfrm>
            <a:custGeom>
              <a:avLst/>
              <a:gdLst/>
              <a:ahLst/>
              <a:cxnLst/>
              <a:rect l="l" t="t" r="r" b="b"/>
              <a:pathLst>
                <a:path w="4374515" h="285750">
                  <a:moveTo>
                    <a:pt x="0" y="285750"/>
                  </a:moveTo>
                  <a:lnTo>
                    <a:pt x="4374007" y="285750"/>
                  </a:lnTo>
                  <a:lnTo>
                    <a:pt x="4374007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476750" y="3829050"/>
              <a:ext cx="3201670" cy="266700"/>
            </a:xfrm>
            <a:custGeom>
              <a:avLst/>
              <a:gdLst/>
              <a:ahLst/>
              <a:cxnLst/>
              <a:rect l="l" t="t" r="r" b="b"/>
              <a:pathLst>
                <a:path w="3201670" h="266700">
                  <a:moveTo>
                    <a:pt x="3201288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3201288" y="266700"/>
                  </a:lnTo>
                  <a:lnTo>
                    <a:pt x="3201288" y="0"/>
                  </a:lnTo>
                  <a:close/>
                </a:path>
              </a:pathLst>
            </a:custGeom>
            <a:solidFill>
              <a:srgbClr val="00A9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165463" y="3740353"/>
            <a:ext cx="1014730" cy="414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spc="-10" b="1">
                <a:solidFill>
                  <a:srgbClr val="00A99D"/>
                </a:solidFill>
                <a:latin typeface="Arial"/>
                <a:cs typeface="Arial"/>
              </a:rPr>
              <a:t>0.8051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739" y="4655058"/>
            <a:ext cx="2666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Seasonal</a:t>
            </a:r>
            <a:r>
              <a:rPr dirty="0" sz="2400" spc="-10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111111"/>
                </a:solidFill>
                <a:latin typeface="Arial"/>
                <a:cs typeface="Arial"/>
              </a:rPr>
              <a:t>baseline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71987" y="4728781"/>
            <a:ext cx="4384040" cy="295275"/>
            <a:chOff x="4471987" y="4728781"/>
            <a:chExt cx="4384040" cy="295275"/>
          </a:xfrm>
        </p:grpSpPr>
        <p:sp>
          <p:nvSpPr>
            <p:cNvPr id="11" name="object 11"/>
            <p:cNvSpPr/>
            <p:nvPr/>
          </p:nvSpPr>
          <p:spPr>
            <a:xfrm>
              <a:off x="4476750" y="4733544"/>
              <a:ext cx="4374515" cy="285750"/>
            </a:xfrm>
            <a:custGeom>
              <a:avLst/>
              <a:gdLst/>
              <a:ahLst/>
              <a:cxnLst/>
              <a:rect l="l" t="t" r="r" b="b"/>
              <a:pathLst>
                <a:path w="4374515" h="285750">
                  <a:moveTo>
                    <a:pt x="0" y="285750"/>
                  </a:moveTo>
                  <a:lnTo>
                    <a:pt x="4374007" y="285750"/>
                  </a:lnTo>
                  <a:lnTo>
                    <a:pt x="4374007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476750" y="4743069"/>
              <a:ext cx="3328670" cy="266700"/>
            </a:xfrm>
            <a:custGeom>
              <a:avLst/>
              <a:gdLst/>
              <a:ahLst/>
              <a:cxnLst/>
              <a:rect l="l" t="t" r="r" b="b"/>
              <a:pathLst>
                <a:path w="3328670" h="266700">
                  <a:moveTo>
                    <a:pt x="3328161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3328161" y="266700"/>
                  </a:lnTo>
                  <a:lnTo>
                    <a:pt x="3328161" y="0"/>
                  </a:lnTo>
                  <a:close/>
                </a:path>
              </a:pathLst>
            </a:custGeom>
            <a:solidFill>
              <a:srgbClr val="F1A9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165463" y="4655058"/>
            <a:ext cx="101473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10" b="1">
                <a:solidFill>
                  <a:srgbClr val="F1A900"/>
                </a:solidFill>
                <a:latin typeface="Arial"/>
                <a:cs typeface="Arial"/>
              </a:rPr>
              <a:t>0.8370</a:t>
            </a:r>
            <a:endParaRPr sz="2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1739" y="5359400"/>
            <a:ext cx="1990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11111"/>
                </a:solidFill>
                <a:latin typeface="Arial"/>
                <a:cs typeface="Arial"/>
              </a:rPr>
              <a:t>Zero </a:t>
            </a:r>
            <a:r>
              <a:rPr dirty="0" sz="2400" spc="-10" b="1">
                <a:solidFill>
                  <a:srgbClr val="111111"/>
                </a:solidFill>
                <a:latin typeface="Arial"/>
                <a:cs typeface="Arial"/>
              </a:rPr>
              <a:t>baseline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71987" y="5395150"/>
            <a:ext cx="4384040" cy="309880"/>
            <a:chOff x="4471987" y="5395150"/>
            <a:chExt cx="4384040" cy="309880"/>
          </a:xfrm>
        </p:grpSpPr>
        <p:sp>
          <p:nvSpPr>
            <p:cNvPr id="16" name="object 16"/>
            <p:cNvSpPr/>
            <p:nvPr/>
          </p:nvSpPr>
          <p:spPr>
            <a:xfrm>
              <a:off x="4476750" y="5399913"/>
              <a:ext cx="4374515" cy="285750"/>
            </a:xfrm>
            <a:custGeom>
              <a:avLst/>
              <a:gdLst/>
              <a:ahLst/>
              <a:cxnLst/>
              <a:rect l="l" t="t" r="r" b="b"/>
              <a:pathLst>
                <a:path w="4374515" h="285750">
                  <a:moveTo>
                    <a:pt x="0" y="285750"/>
                  </a:moveTo>
                  <a:lnTo>
                    <a:pt x="4374007" y="285750"/>
                  </a:lnTo>
                  <a:lnTo>
                    <a:pt x="4374007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D6DB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76750" y="5409438"/>
              <a:ext cx="4320540" cy="295275"/>
            </a:xfrm>
            <a:custGeom>
              <a:avLst/>
              <a:gdLst/>
              <a:ahLst/>
              <a:cxnLst/>
              <a:rect l="l" t="t" r="r" b="b"/>
              <a:pathLst>
                <a:path w="4320540" h="295275">
                  <a:moveTo>
                    <a:pt x="4320286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4320286" y="295275"/>
                  </a:lnTo>
                  <a:lnTo>
                    <a:pt x="4320286" y="0"/>
                  </a:lnTo>
                  <a:close/>
                </a:path>
              </a:pathLst>
            </a:custGeom>
            <a:solidFill>
              <a:srgbClr val="D5454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227057" y="5464302"/>
            <a:ext cx="101473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10" b="1">
                <a:solidFill>
                  <a:srgbClr val="D54545"/>
                </a:solidFill>
                <a:latin typeface="Arial"/>
                <a:cs typeface="Arial"/>
              </a:rPr>
              <a:t>1.0694</a:t>
            </a:r>
            <a:endParaRPr sz="25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049250" y="3619500"/>
            <a:ext cx="76200" cy="952500"/>
          </a:xfrm>
          <a:custGeom>
            <a:avLst/>
            <a:gdLst/>
            <a:ahLst/>
            <a:cxnLst/>
            <a:rect l="l" t="t" r="r" b="b"/>
            <a:pathLst>
              <a:path w="76200" h="952500">
                <a:moveTo>
                  <a:pt x="76200" y="0"/>
                </a:moveTo>
                <a:lnTo>
                  <a:pt x="0" y="0"/>
                </a:lnTo>
                <a:lnTo>
                  <a:pt x="0" y="952500"/>
                </a:lnTo>
                <a:lnTo>
                  <a:pt x="76200" y="952500"/>
                </a:lnTo>
                <a:lnTo>
                  <a:pt x="76200" y="0"/>
                </a:lnTo>
                <a:close/>
              </a:path>
            </a:pathLst>
          </a:custGeom>
          <a:solidFill>
            <a:srgbClr val="00A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3205206" y="3504449"/>
            <a:ext cx="2780665" cy="102489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500" spc="-10" b="1">
                <a:solidFill>
                  <a:srgbClr val="58606B"/>
                </a:solidFill>
                <a:latin typeface="Arial"/>
                <a:cs typeface="Arial"/>
              </a:rPr>
              <a:t>Average</a:t>
            </a:r>
            <a:r>
              <a:rPr dirty="0" sz="2500" spc="-114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58606B"/>
                </a:solidFill>
                <a:latin typeface="Arial"/>
                <a:cs typeface="Arial"/>
              </a:rPr>
              <a:t>Precision</a:t>
            </a:r>
            <a:endParaRPr sz="25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425"/>
              </a:spcBef>
            </a:pPr>
            <a:r>
              <a:rPr dirty="0" sz="3450" spc="-10" b="1">
                <a:solidFill>
                  <a:srgbClr val="00A99D"/>
                </a:solidFill>
                <a:latin typeface="Arial"/>
                <a:cs typeface="Arial"/>
              </a:rPr>
              <a:t>0.489</a:t>
            </a:r>
            <a:endParaRPr sz="3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049250" y="5048250"/>
            <a:ext cx="76200" cy="952500"/>
          </a:xfrm>
          <a:custGeom>
            <a:avLst/>
            <a:gdLst/>
            <a:ahLst/>
            <a:cxnLst/>
            <a:rect l="l" t="t" r="r" b="b"/>
            <a:pathLst>
              <a:path w="76200" h="952500">
                <a:moveTo>
                  <a:pt x="76200" y="0"/>
                </a:moveTo>
                <a:lnTo>
                  <a:pt x="0" y="0"/>
                </a:lnTo>
                <a:lnTo>
                  <a:pt x="0" y="952500"/>
                </a:lnTo>
                <a:lnTo>
                  <a:pt x="76200" y="952500"/>
                </a:lnTo>
                <a:lnTo>
                  <a:pt x="76200" y="0"/>
                </a:lnTo>
                <a:close/>
              </a:path>
            </a:pathLst>
          </a:custGeom>
          <a:solidFill>
            <a:srgbClr val="206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3205206" y="4850854"/>
            <a:ext cx="2773680" cy="112268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500" b="1">
                <a:solidFill>
                  <a:srgbClr val="58606B"/>
                </a:solidFill>
                <a:latin typeface="Arial"/>
                <a:cs typeface="Arial"/>
              </a:rPr>
              <a:t>Serious</a:t>
            </a:r>
            <a:r>
              <a:rPr dirty="0" sz="2500" spc="-9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500" spc="-25" b="1">
                <a:solidFill>
                  <a:srgbClr val="58606B"/>
                </a:solidFill>
                <a:latin typeface="Arial"/>
                <a:cs typeface="Arial"/>
              </a:rPr>
              <a:t>ROC-AUC</a:t>
            </a:r>
            <a:endParaRPr sz="25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875"/>
              </a:spcBef>
            </a:pPr>
            <a:r>
              <a:rPr dirty="0" sz="3450" spc="-10" b="1">
                <a:solidFill>
                  <a:srgbClr val="2066F3"/>
                </a:solidFill>
                <a:latin typeface="Arial"/>
                <a:cs typeface="Arial"/>
              </a:rPr>
              <a:t>0.707</a:t>
            </a:r>
            <a:endParaRPr sz="34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049250" y="6477000"/>
            <a:ext cx="76200" cy="952500"/>
          </a:xfrm>
          <a:custGeom>
            <a:avLst/>
            <a:gdLst/>
            <a:ahLst/>
            <a:cxnLst/>
            <a:rect l="l" t="t" r="r" b="b"/>
            <a:pathLst>
              <a:path w="76200" h="952500">
                <a:moveTo>
                  <a:pt x="76200" y="0"/>
                </a:moveTo>
                <a:lnTo>
                  <a:pt x="0" y="0"/>
                </a:lnTo>
                <a:lnTo>
                  <a:pt x="0" y="952500"/>
                </a:lnTo>
                <a:lnTo>
                  <a:pt x="76200" y="952500"/>
                </a:lnTo>
                <a:lnTo>
                  <a:pt x="76200" y="0"/>
                </a:lnTo>
                <a:close/>
              </a:path>
            </a:pathLst>
          </a:custGeom>
          <a:solidFill>
            <a:srgbClr val="178B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3258291" y="6327271"/>
            <a:ext cx="2897505" cy="110109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500" b="1">
                <a:solidFill>
                  <a:srgbClr val="58606B"/>
                </a:solidFill>
                <a:latin typeface="Arial"/>
                <a:cs typeface="Arial"/>
              </a:rPr>
              <a:t>Median</a:t>
            </a:r>
            <a:r>
              <a:rPr dirty="0" sz="2500" spc="-9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58606B"/>
                </a:solidFill>
                <a:latin typeface="Arial"/>
                <a:cs typeface="Arial"/>
              </a:rPr>
              <a:t>District</a:t>
            </a:r>
            <a:r>
              <a:rPr dirty="0" sz="2500" spc="-8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500" spc="-25" b="1">
                <a:solidFill>
                  <a:srgbClr val="58606B"/>
                </a:solidFill>
                <a:latin typeface="Arial"/>
                <a:cs typeface="Arial"/>
              </a:rPr>
              <a:t>PAI</a:t>
            </a:r>
            <a:endParaRPr sz="2500">
              <a:latin typeface="Arial"/>
              <a:cs typeface="Arial"/>
            </a:endParaRPr>
          </a:p>
          <a:p>
            <a:pPr marL="100330">
              <a:lnSpc>
                <a:spcPct val="100000"/>
              </a:lnSpc>
              <a:spcBef>
                <a:spcPts val="775"/>
              </a:spcBef>
            </a:pPr>
            <a:r>
              <a:rPr dirty="0" sz="3450" spc="-10" b="1">
                <a:solidFill>
                  <a:srgbClr val="178B62"/>
                </a:solidFill>
                <a:latin typeface="Arial"/>
                <a:cs typeface="Arial"/>
              </a:rPr>
              <a:t>1.319</a:t>
            </a:r>
            <a:endParaRPr sz="3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1037" y="7777988"/>
            <a:ext cx="466471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100"/>
              </a:spcBef>
              <a:buChar char="•"/>
              <a:tabLst>
                <a:tab pos="231775" algn="l"/>
              </a:tabLst>
            </a:pP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1.40%</a:t>
            </a:r>
            <a:r>
              <a:rPr dirty="0" sz="2400" spc="-65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arrest</a:t>
            </a:r>
            <a:r>
              <a:rPr dirty="0" sz="2400" spc="-7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75F92"/>
                </a:solidFill>
                <a:latin typeface="Calibri"/>
                <a:cs typeface="Calibri"/>
              </a:rPr>
              <a:t>rate</a:t>
            </a:r>
            <a:r>
              <a:rPr dirty="0" sz="2400" spc="-7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spread</a:t>
            </a:r>
            <a:r>
              <a:rPr dirty="0" sz="2400" spc="-6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(9</a:t>
            </a:r>
            <a:r>
              <a:rPr dirty="0" sz="2400" spc="-6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75F92"/>
                </a:solidFill>
                <a:latin typeface="Calibri"/>
                <a:cs typeface="Calibri"/>
              </a:rPr>
              <a:t>groups)</a:t>
            </a:r>
            <a:endParaRPr sz="24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20"/>
              </a:spcBef>
              <a:buChar char="•"/>
              <a:tabLst>
                <a:tab pos="231775" algn="l"/>
              </a:tabLst>
            </a:pP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0</a:t>
            </a:r>
            <a:r>
              <a:rPr dirty="0" sz="2400" spc="-45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audit</a:t>
            </a:r>
            <a:r>
              <a:rPr dirty="0" sz="2400" spc="-4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warnings</a:t>
            </a:r>
            <a:r>
              <a:rPr dirty="0" sz="2400" spc="-4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75F92"/>
                </a:solidFill>
                <a:latin typeface="Calibri"/>
                <a:cs typeface="Calibri"/>
              </a:rPr>
              <a:t>configured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5759" y="6790908"/>
            <a:ext cx="6765290" cy="119380"/>
            <a:chOff x="365759" y="6790908"/>
            <a:chExt cx="6765290" cy="11938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59" y="6790908"/>
              <a:ext cx="6765035" cy="11903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09079" y="6829298"/>
              <a:ext cx="6664959" cy="0"/>
            </a:xfrm>
            <a:custGeom>
              <a:avLst/>
              <a:gdLst/>
              <a:ahLst/>
              <a:cxnLst/>
              <a:rect l="l" t="t" r="r" b="b"/>
              <a:pathLst>
                <a:path w="6664959" h="0">
                  <a:moveTo>
                    <a:pt x="0" y="0"/>
                  </a:moveTo>
                  <a:lnTo>
                    <a:pt x="6664566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87781" y="6290817"/>
            <a:ext cx="10772140" cy="1144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111111"/>
                </a:solidFill>
                <a:latin typeface="Arial"/>
                <a:cs typeface="Arial"/>
              </a:rPr>
              <a:t>AUDIT</a:t>
            </a:r>
            <a:r>
              <a:rPr dirty="0" sz="3000" spc="-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111111"/>
                </a:solidFill>
                <a:latin typeface="Arial"/>
                <a:cs typeface="Arial"/>
              </a:rPr>
              <a:t>&amp;</a:t>
            </a:r>
            <a:r>
              <a:rPr dirty="0" sz="3000" spc="-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111111"/>
                </a:solidFill>
                <a:latin typeface="Arial"/>
                <a:cs typeface="Arial"/>
              </a:rPr>
              <a:t>NETWORK</a:t>
            </a:r>
            <a:r>
              <a:rPr dirty="0" sz="3000" spc="-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111111"/>
                </a:solidFill>
                <a:latin typeface="Arial"/>
                <a:cs typeface="Arial"/>
              </a:rPr>
              <a:t>BENCHMARKS</a:t>
            </a:r>
            <a:endParaRPr sz="300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  <a:spcBef>
                <a:spcPts val="2210"/>
              </a:spcBef>
              <a:tabLst>
                <a:tab pos="5320665" algn="l"/>
              </a:tabLst>
            </a:pPr>
            <a:r>
              <a:rPr dirty="0" u="sng" sz="2500" spc="-20" b="1">
                <a:uFill>
                  <a:solidFill>
                    <a:srgbClr val="9BBA58"/>
                  </a:solidFill>
                </a:uFill>
                <a:latin typeface="Arial"/>
                <a:cs typeface="Arial"/>
              </a:rPr>
              <a:t>FAIRNESS</a:t>
            </a:r>
            <a:r>
              <a:rPr dirty="0" u="sng" sz="2500" spc="-100" b="1">
                <a:uFill>
                  <a:solidFill>
                    <a:srgbClr val="9BBA58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500" spc="-10" b="1">
                <a:uFill>
                  <a:solidFill>
                    <a:srgbClr val="9BBA58"/>
                  </a:solidFill>
                </a:uFill>
                <a:latin typeface="Arial"/>
                <a:cs typeface="Arial"/>
              </a:rPr>
              <a:t>AUDIT</a:t>
            </a:r>
            <a:r>
              <a:rPr dirty="0" sz="2500" b="1">
                <a:latin typeface="Arial"/>
                <a:cs typeface="Arial"/>
              </a:rPr>
              <a:t>	</a:t>
            </a:r>
            <a:r>
              <a:rPr dirty="0" u="heavy" sz="2500" spc="385" b="1">
                <a:uFill>
                  <a:solidFill>
                    <a:srgbClr val="9BBA58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500" b="1">
                <a:uFill>
                  <a:solidFill>
                    <a:srgbClr val="9BBA58"/>
                  </a:solidFill>
                </a:uFill>
                <a:latin typeface="Arial"/>
                <a:cs typeface="Arial"/>
              </a:rPr>
              <a:t>CYBER NETWORK OPTIMIZATION</a:t>
            </a:r>
            <a:r>
              <a:rPr dirty="0" u="heavy" sz="2500" spc="625" b="1">
                <a:uFill>
                  <a:solidFill>
                    <a:srgbClr val="9BBA58"/>
                  </a:solidFill>
                </a:uFill>
                <a:latin typeface="Arial"/>
                <a:cs typeface="Arial"/>
              </a:rPr>
              <a:t> </a:t>
            </a:r>
            <a:endParaRPr sz="2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06770" y="7779766"/>
            <a:ext cx="455866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100"/>
              </a:spcBef>
              <a:buChar char="•"/>
              <a:tabLst>
                <a:tab pos="231775" algn="l"/>
              </a:tabLst>
            </a:pP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76%</a:t>
            </a:r>
            <a:r>
              <a:rPr dirty="0" sz="2400" spc="-65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visible</a:t>
            </a:r>
            <a:r>
              <a:rPr dirty="0" sz="2400" spc="-4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node</a:t>
            </a:r>
            <a:r>
              <a:rPr dirty="0" sz="2400" spc="-6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clutter</a:t>
            </a:r>
            <a:r>
              <a:rPr dirty="0" sz="2400" spc="-45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75F92"/>
                </a:solidFill>
                <a:latin typeface="Calibri"/>
                <a:cs typeface="Calibri"/>
              </a:rPr>
              <a:t>reduction</a:t>
            </a:r>
            <a:endParaRPr sz="24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20"/>
              </a:spcBef>
              <a:buChar char="•"/>
              <a:tabLst>
                <a:tab pos="231775" algn="l"/>
              </a:tabLst>
            </a:pP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119</a:t>
            </a:r>
            <a:r>
              <a:rPr dirty="0" sz="2400" spc="-35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repeat</a:t>
            </a:r>
            <a:r>
              <a:rPr dirty="0" sz="2400" spc="-45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accused</a:t>
            </a:r>
            <a:r>
              <a:rPr dirty="0" sz="2400" spc="-3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&amp;</a:t>
            </a:r>
            <a:r>
              <a:rPr dirty="0" sz="2400" spc="-45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75F92"/>
                </a:solidFill>
                <a:latin typeface="Calibri"/>
                <a:cs typeface="Calibri"/>
              </a:rPr>
              <a:t>559</a:t>
            </a:r>
            <a:r>
              <a:rPr dirty="0" sz="2400" spc="-40" b="1">
                <a:solidFill>
                  <a:srgbClr val="375F92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75F92"/>
                </a:solidFill>
                <a:latin typeface="Calibri"/>
                <a:cs typeface="Calibri"/>
              </a:rPr>
              <a:t>links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" y="7391364"/>
            <a:ext cx="2670048" cy="11903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85103" y="7367066"/>
            <a:ext cx="5500115" cy="143205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2978765" y="2908173"/>
            <a:ext cx="472503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latin typeface="Arial"/>
                <a:cs typeface="Arial"/>
              </a:rPr>
              <a:t>SERIOUS</a:t>
            </a:r>
            <a:r>
              <a:rPr dirty="0" sz="2500" spc="-6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RISK</a:t>
            </a:r>
            <a:r>
              <a:rPr dirty="0" sz="2500" spc="-6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&amp;</a:t>
            </a:r>
            <a:r>
              <a:rPr dirty="0" sz="2500" spc="-65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PAI</a:t>
            </a:r>
            <a:r>
              <a:rPr dirty="0" sz="2500" spc="-60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METRICS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501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100"/>
              </a:spcBef>
            </a:pPr>
            <a:r>
              <a:rPr dirty="0"/>
              <a:t>Submission</a:t>
            </a:r>
            <a:r>
              <a:rPr dirty="0" spc="-65"/>
              <a:t> </a:t>
            </a:r>
            <a:r>
              <a:rPr dirty="0" spc="-20"/>
              <a:t>links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3737305"/>
            <a:ext cx="44958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5" b="1">
                <a:solidFill>
                  <a:srgbClr val="F1A900"/>
                </a:solidFill>
                <a:latin typeface="Arial"/>
                <a:cs typeface="Arial"/>
              </a:rPr>
              <a:t>01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0117" y="3738829"/>
            <a:ext cx="3380104" cy="3702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GitHub</a:t>
            </a:r>
            <a:r>
              <a:rPr dirty="0" sz="225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public</a:t>
            </a:r>
            <a:r>
              <a:rPr dirty="0" sz="225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11111"/>
                </a:solidFill>
                <a:latin typeface="Arial"/>
                <a:cs typeface="Arial"/>
              </a:rPr>
              <a:t>repository</a:t>
            </a:r>
            <a:endParaRPr sz="2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0117" y="4328286"/>
            <a:ext cx="94627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000" spc="-2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https://github.com/bhaktictak/ksp</a:t>
            </a:r>
            <a:r>
              <a:rPr dirty="0" u="sng" sz="3000" spc="-2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-</a:t>
            </a:r>
            <a:r>
              <a:rPr dirty="0" u="sng" sz="30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crime</a:t>
            </a:r>
            <a:r>
              <a:rPr dirty="0" u="sng" sz="30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-</a:t>
            </a:r>
            <a:r>
              <a:rPr dirty="0" u="sng" sz="30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intelligence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5067300"/>
            <a:ext cx="14668500" cy="19050"/>
          </a:xfrm>
          <a:custGeom>
            <a:avLst/>
            <a:gdLst/>
            <a:ahLst/>
            <a:cxnLst/>
            <a:rect l="l" t="t" r="r" b="b"/>
            <a:pathLst>
              <a:path w="14668500" h="19050">
                <a:moveTo>
                  <a:pt x="14668500" y="0"/>
                </a:moveTo>
                <a:lnTo>
                  <a:pt x="0" y="0"/>
                </a:lnTo>
                <a:lnTo>
                  <a:pt x="0" y="19050"/>
                </a:lnTo>
                <a:lnTo>
                  <a:pt x="14668500" y="19050"/>
                </a:lnTo>
                <a:lnTo>
                  <a:pt x="14668500" y="0"/>
                </a:lnTo>
                <a:close/>
              </a:path>
            </a:pathLst>
          </a:custGeom>
          <a:solidFill>
            <a:srgbClr val="D6DB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1739" y="5452364"/>
            <a:ext cx="4495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5" b="1">
                <a:solidFill>
                  <a:srgbClr val="F1A900"/>
                </a:solidFill>
                <a:latin typeface="Arial"/>
                <a:cs typeface="Arial"/>
              </a:rPr>
              <a:t>02</a:t>
            </a:r>
            <a:endParaRPr sz="3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0117" y="5453888"/>
            <a:ext cx="3250565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Demo</a:t>
            </a:r>
            <a:r>
              <a:rPr dirty="0" sz="225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video</a:t>
            </a:r>
            <a:r>
              <a:rPr dirty="0" sz="225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(3</a:t>
            </a:r>
            <a:r>
              <a:rPr dirty="0" sz="225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11111"/>
                </a:solidFill>
                <a:latin typeface="Arial"/>
                <a:cs typeface="Arial"/>
              </a:rPr>
              <a:t>minutes)</a:t>
            </a:r>
            <a:endParaRPr sz="22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3000" y="6781800"/>
            <a:ext cx="14668500" cy="19050"/>
          </a:xfrm>
          <a:custGeom>
            <a:avLst/>
            <a:gdLst/>
            <a:ahLst/>
            <a:cxnLst/>
            <a:rect l="l" t="t" r="r" b="b"/>
            <a:pathLst>
              <a:path w="14668500" h="19050">
                <a:moveTo>
                  <a:pt x="14668500" y="0"/>
                </a:moveTo>
                <a:lnTo>
                  <a:pt x="0" y="0"/>
                </a:lnTo>
                <a:lnTo>
                  <a:pt x="0" y="19050"/>
                </a:lnTo>
                <a:lnTo>
                  <a:pt x="14668500" y="19050"/>
                </a:lnTo>
                <a:lnTo>
                  <a:pt x="14668500" y="0"/>
                </a:lnTo>
                <a:close/>
              </a:path>
            </a:pathLst>
          </a:custGeom>
          <a:solidFill>
            <a:srgbClr val="D6DB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21739" y="7167117"/>
            <a:ext cx="4495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5" b="1">
                <a:solidFill>
                  <a:srgbClr val="178B62"/>
                </a:solidFill>
                <a:latin typeface="Arial"/>
                <a:cs typeface="Arial"/>
              </a:rPr>
              <a:t>03</a:t>
            </a:r>
            <a:endParaRPr sz="3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0117" y="7168642"/>
            <a:ext cx="2709545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50" b="1">
                <a:solidFill>
                  <a:srgbClr val="111111"/>
                </a:solidFill>
                <a:latin typeface="Arial"/>
                <a:cs typeface="Arial"/>
              </a:rPr>
              <a:t>Deployed</a:t>
            </a:r>
            <a:r>
              <a:rPr dirty="0" sz="225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11111"/>
                </a:solidFill>
                <a:latin typeface="Arial"/>
                <a:cs typeface="Arial"/>
              </a:rPr>
              <a:t>prototype</a:t>
            </a:r>
            <a:endParaRPr sz="2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0117" y="7759445"/>
            <a:ext cx="124961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800" spc="-20" b="1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3"/>
              </a:rPr>
              <a:t>https://kspcrimeintelligence</a:t>
            </a:r>
            <a:r>
              <a:rPr dirty="0" u="sng" sz="2800" spc="-20" b="1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3"/>
              </a:rPr>
              <a:t>-</a:t>
            </a:r>
            <a:r>
              <a:rPr dirty="0" u="sng" sz="2800" spc="-10" b="1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3"/>
              </a:rPr>
              <a:t>50044296851.development.catalystappsail.in/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43000" y="8496300"/>
            <a:ext cx="14668500" cy="19050"/>
          </a:xfrm>
          <a:custGeom>
            <a:avLst/>
            <a:gdLst/>
            <a:ahLst/>
            <a:cxnLst/>
            <a:rect l="l" t="t" r="r" b="b"/>
            <a:pathLst>
              <a:path w="14668500" h="19050">
                <a:moveTo>
                  <a:pt x="14668500" y="0"/>
                </a:moveTo>
                <a:lnTo>
                  <a:pt x="0" y="0"/>
                </a:lnTo>
                <a:lnTo>
                  <a:pt x="0" y="19050"/>
                </a:lnTo>
                <a:lnTo>
                  <a:pt x="14668500" y="19050"/>
                </a:lnTo>
                <a:lnTo>
                  <a:pt x="14668500" y="0"/>
                </a:lnTo>
                <a:close/>
              </a:path>
            </a:pathLst>
          </a:custGeom>
          <a:solidFill>
            <a:srgbClr val="D6DBD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805" y="1605152"/>
            <a:ext cx="171075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Arial"/>
                <a:cs typeface="Arial"/>
              </a:rPr>
              <a:t>FUTURE</a:t>
            </a:r>
            <a:r>
              <a:rPr dirty="0" sz="2800" spc="-110" b="1">
                <a:latin typeface="Arial"/>
                <a:cs typeface="Arial"/>
              </a:rPr>
              <a:t> </a:t>
            </a:r>
            <a:r>
              <a:rPr dirty="0" sz="2800" spc="-35" b="1">
                <a:latin typeface="Arial"/>
                <a:cs typeface="Arial"/>
              </a:rPr>
              <a:t>DEVELOPMENT:</a:t>
            </a:r>
            <a:r>
              <a:rPr dirty="0" sz="2800" spc="-8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FROM</a:t>
            </a:r>
            <a:r>
              <a:rPr dirty="0" sz="2800" spc="-11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SYNTHETIC</a:t>
            </a:r>
            <a:r>
              <a:rPr dirty="0" sz="2800" spc="-85" b="1">
                <a:latin typeface="Arial"/>
                <a:cs typeface="Arial"/>
              </a:rPr>
              <a:t> </a:t>
            </a:r>
            <a:r>
              <a:rPr dirty="0" sz="2800" spc="-45" b="1">
                <a:latin typeface="Arial"/>
                <a:cs typeface="Arial"/>
              </a:rPr>
              <a:t>VALIDATION</a:t>
            </a:r>
            <a:r>
              <a:rPr dirty="0" sz="2800" spc="-10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TO</a:t>
            </a:r>
            <a:r>
              <a:rPr dirty="0" sz="2800" spc="-14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GOVERNED</a:t>
            </a:r>
            <a:r>
              <a:rPr dirty="0" sz="2800" spc="-105" b="1">
                <a:latin typeface="Arial"/>
                <a:cs typeface="Arial"/>
              </a:rPr>
              <a:t> </a:t>
            </a:r>
            <a:r>
              <a:rPr dirty="0" sz="2800" spc="-30" b="1">
                <a:latin typeface="Arial"/>
                <a:cs typeface="Arial"/>
              </a:rPr>
              <a:t>OPERATIONAL</a:t>
            </a:r>
            <a:r>
              <a:rPr dirty="0" sz="2800" spc="-13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EVIDENCE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47875" y="5367273"/>
            <a:ext cx="13906500" cy="885825"/>
            <a:chOff x="2047875" y="5367273"/>
            <a:chExt cx="13906500" cy="885825"/>
          </a:xfrm>
        </p:grpSpPr>
        <p:sp>
          <p:nvSpPr>
            <p:cNvPr id="4" name="object 4"/>
            <p:cNvSpPr/>
            <p:nvPr/>
          </p:nvSpPr>
          <p:spPr>
            <a:xfrm>
              <a:off x="2047875" y="5810249"/>
              <a:ext cx="13906500" cy="76200"/>
            </a:xfrm>
            <a:custGeom>
              <a:avLst/>
              <a:gdLst/>
              <a:ahLst/>
              <a:cxnLst/>
              <a:rect l="l" t="t" r="r" b="b"/>
              <a:pathLst>
                <a:path w="13906500" h="76200">
                  <a:moveTo>
                    <a:pt x="139065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3906500" y="76200"/>
                  </a:lnTo>
                  <a:lnTo>
                    <a:pt x="13906500" y="0"/>
                  </a:lnTo>
                  <a:close/>
                </a:path>
              </a:pathLst>
            </a:custGeom>
            <a:solidFill>
              <a:srgbClr val="2066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67938" y="5367273"/>
              <a:ext cx="842644" cy="885825"/>
            </a:xfrm>
            <a:custGeom>
              <a:avLst/>
              <a:gdLst/>
              <a:ahLst/>
              <a:cxnLst/>
              <a:rect l="l" t="t" r="r" b="b"/>
              <a:pathLst>
                <a:path w="842645" h="885825">
                  <a:moveTo>
                    <a:pt x="421005" y="0"/>
                  </a:moveTo>
                  <a:lnTo>
                    <a:pt x="375127" y="2599"/>
                  </a:lnTo>
                  <a:lnTo>
                    <a:pt x="330682" y="10219"/>
                  </a:lnTo>
                  <a:lnTo>
                    <a:pt x="287926" y="22587"/>
                  </a:lnTo>
                  <a:lnTo>
                    <a:pt x="247115" y="39434"/>
                  </a:lnTo>
                  <a:lnTo>
                    <a:pt x="208505" y="60489"/>
                  </a:lnTo>
                  <a:lnTo>
                    <a:pt x="172355" y="85482"/>
                  </a:lnTo>
                  <a:lnTo>
                    <a:pt x="138920" y="114141"/>
                  </a:lnTo>
                  <a:lnTo>
                    <a:pt x="108457" y="146198"/>
                  </a:lnTo>
                  <a:lnTo>
                    <a:pt x="81223" y="181380"/>
                  </a:lnTo>
                  <a:lnTo>
                    <a:pt x="57474" y="219418"/>
                  </a:lnTo>
                  <a:lnTo>
                    <a:pt x="37468" y="260041"/>
                  </a:lnTo>
                  <a:lnTo>
                    <a:pt x="21460" y="302979"/>
                  </a:lnTo>
                  <a:lnTo>
                    <a:pt x="9709" y="347961"/>
                  </a:lnTo>
                  <a:lnTo>
                    <a:pt x="2470" y="394717"/>
                  </a:lnTo>
                  <a:lnTo>
                    <a:pt x="0" y="442975"/>
                  </a:lnTo>
                  <a:lnTo>
                    <a:pt x="2470" y="491233"/>
                  </a:lnTo>
                  <a:lnTo>
                    <a:pt x="9709" y="537984"/>
                  </a:lnTo>
                  <a:lnTo>
                    <a:pt x="21460" y="582959"/>
                  </a:lnTo>
                  <a:lnTo>
                    <a:pt x="37468" y="625888"/>
                  </a:lnTo>
                  <a:lnTo>
                    <a:pt x="57474" y="666500"/>
                  </a:lnTo>
                  <a:lnTo>
                    <a:pt x="81223" y="704526"/>
                  </a:lnTo>
                  <a:lnTo>
                    <a:pt x="108457" y="739696"/>
                  </a:lnTo>
                  <a:lnTo>
                    <a:pt x="138920" y="771740"/>
                  </a:lnTo>
                  <a:lnTo>
                    <a:pt x="172355" y="800387"/>
                  </a:lnTo>
                  <a:lnTo>
                    <a:pt x="208505" y="825368"/>
                  </a:lnTo>
                  <a:lnTo>
                    <a:pt x="247115" y="846412"/>
                  </a:lnTo>
                  <a:lnTo>
                    <a:pt x="287926" y="863250"/>
                  </a:lnTo>
                  <a:lnTo>
                    <a:pt x="330682" y="875611"/>
                  </a:lnTo>
                  <a:lnTo>
                    <a:pt x="375127" y="883226"/>
                  </a:lnTo>
                  <a:lnTo>
                    <a:pt x="421005" y="885825"/>
                  </a:lnTo>
                  <a:lnTo>
                    <a:pt x="466883" y="883226"/>
                  </a:lnTo>
                  <a:lnTo>
                    <a:pt x="511333" y="875611"/>
                  </a:lnTo>
                  <a:lnTo>
                    <a:pt x="554096" y="863250"/>
                  </a:lnTo>
                  <a:lnTo>
                    <a:pt x="594917" y="846412"/>
                  </a:lnTo>
                  <a:lnTo>
                    <a:pt x="633537" y="825368"/>
                  </a:lnTo>
                  <a:lnTo>
                    <a:pt x="669699" y="800387"/>
                  </a:lnTo>
                  <a:lnTo>
                    <a:pt x="703146" y="771740"/>
                  </a:lnTo>
                  <a:lnTo>
                    <a:pt x="733622" y="739696"/>
                  </a:lnTo>
                  <a:lnTo>
                    <a:pt x="760869" y="704526"/>
                  </a:lnTo>
                  <a:lnTo>
                    <a:pt x="784629" y="666500"/>
                  </a:lnTo>
                  <a:lnTo>
                    <a:pt x="804646" y="625888"/>
                  </a:lnTo>
                  <a:lnTo>
                    <a:pt x="820662" y="582959"/>
                  </a:lnTo>
                  <a:lnTo>
                    <a:pt x="832421" y="537984"/>
                  </a:lnTo>
                  <a:lnTo>
                    <a:pt x="839665" y="491233"/>
                  </a:lnTo>
                  <a:lnTo>
                    <a:pt x="842137" y="442975"/>
                  </a:lnTo>
                  <a:lnTo>
                    <a:pt x="839665" y="394717"/>
                  </a:lnTo>
                  <a:lnTo>
                    <a:pt x="832421" y="347961"/>
                  </a:lnTo>
                  <a:lnTo>
                    <a:pt x="820662" y="302979"/>
                  </a:lnTo>
                  <a:lnTo>
                    <a:pt x="804646" y="260041"/>
                  </a:lnTo>
                  <a:lnTo>
                    <a:pt x="784629" y="219418"/>
                  </a:lnTo>
                  <a:lnTo>
                    <a:pt x="760869" y="181380"/>
                  </a:lnTo>
                  <a:lnTo>
                    <a:pt x="733622" y="146198"/>
                  </a:lnTo>
                  <a:lnTo>
                    <a:pt x="703146" y="114141"/>
                  </a:lnTo>
                  <a:lnTo>
                    <a:pt x="669699" y="85482"/>
                  </a:lnTo>
                  <a:lnTo>
                    <a:pt x="633537" y="60489"/>
                  </a:lnTo>
                  <a:lnTo>
                    <a:pt x="594917" y="39434"/>
                  </a:lnTo>
                  <a:lnTo>
                    <a:pt x="554096" y="22587"/>
                  </a:lnTo>
                  <a:lnTo>
                    <a:pt x="511333" y="10219"/>
                  </a:lnTo>
                  <a:lnTo>
                    <a:pt x="466883" y="2599"/>
                  </a:lnTo>
                  <a:lnTo>
                    <a:pt x="421005" y="0"/>
                  </a:lnTo>
                  <a:close/>
                </a:path>
              </a:pathLst>
            </a:custGeom>
            <a:solidFill>
              <a:srgbClr val="00A9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283077" y="5506592"/>
            <a:ext cx="4127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5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260473" y="3283434"/>
            <a:ext cx="2338705" cy="1050290"/>
          </a:xfrm>
          <a:prstGeom prst="rect"/>
        </p:spPr>
        <p:txBody>
          <a:bodyPr wrap="square" lIns="0" tIns="857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3000" spc="-25">
                <a:solidFill>
                  <a:srgbClr val="00A99D"/>
                </a:solidFill>
              </a:rPr>
              <a:t>NOW</a:t>
            </a:r>
            <a:endParaRPr sz="3000"/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2800">
                <a:solidFill>
                  <a:srgbClr val="111111"/>
                </a:solidFill>
              </a:rPr>
              <a:t>Harden</a:t>
            </a:r>
            <a:r>
              <a:rPr dirty="0" sz="2800" spc="-75">
                <a:solidFill>
                  <a:srgbClr val="111111"/>
                </a:solidFill>
              </a:rPr>
              <a:t> </a:t>
            </a:r>
            <a:r>
              <a:rPr dirty="0" sz="2800" spc="-20">
                <a:solidFill>
                  <a:srgbClr val="111111"/>
                </a:solidFill>
              </a:rPr>
              <a:t>Demo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1411605" y="6454266"/>
            <a:ext cx="4036060" cy="1779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01700" indent="-171450">
              <a:lnSpc>
                <a:spcPct val="100000"/>
              </a:lnSpc>
              <a:spcBef>
                <a:spcPts val="105"/>
              </a:spcBef>
              <a:buChar char="•"/>
              <a:tabLst>
                <a:tab pos="901700" algn="l"/>
              </a:tabLst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Automated</a:t>
            </a:r>
            <a:r>
              <a:rPr dirty="0" sz="23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CI/CD</a:t>
            </a:r>
            <a:endParaRPr sz="2300">
              <a:latin typeface="Arial"/>
              <a:cs typeface="Arial"/>
            </a:endParaRPr>
          </a:p>
          <a:p>
            <a:pPr marL="711835" indent="-181610">
              <a:lnSpc>
                <a:spcPct val="100000"/>
              </a:lnSpc>
              <a:buChar char="•"/>
              <a:tabLst>
                <a:tab pos="711835" algn="l"/>
              </a:tabLst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Offline</a:t>
            </a:r>
            <a:r>
              <a:rPr dirty="0" sz="2300" spc="-3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map</a:t>
            </a:r>
            <a:r>
              <a:rPr dirty="0" sz="2300" spc="-2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caching</a:t>
            </a:r>
            <a:endParaRPr sz="2300">
              <a:latin typeface="Arial"/>
              <a:cs typeface="Arial"/>
            </a:endParaRPr>
          </a:p>
          <a:p>
            <a:pPr marL="194310" indent="-181610">
              <a:lnSpc>
                <a:spcPct val="100000"/>
              </a:lnSpc>
              <a:buChar char="•"/>
              <a:tabLst>
                <a:tab pos="194310" algn="l"/>
              </a:tabLst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Signed</a:t>
            </a:r>
            <a:r>
              <a:rPr dirty="0" sz="23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release</a:t>
            </a:r>
            <a:r>
              <a:rPr dirty="0" sz="23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(checksums</a:t>
            </a:r>
            <a:endParaRPr sz="2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(SHA256)</a:t>
            </a:r>
            <a:endParaRPr sz="2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,</a:t>
            </a:r>
            <a:r>
              <a:rPr dirty="0" sz="2300" spc="-3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•</a:t>
            </a:r>
            <a:r>
              <a:rPr dirty="0" sz="2300" spc="-10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Accessibility</a:t>
            </a:r>
            <a:r>
              <a:rPr dirty="0" sz="23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(WCAG).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662289" y="5388483"/>
            <a:ext cx="842644" cy="885825"/>
          </a:xfrm>
          <a:custGeom>
            <a:avLst/>
            <a:gdLst/>
            <a:ahLst/>
            <a:cxnLst/>
            <a:rect l="l" t="t" r="r" b="b"/>
            <a:pathLst>
              <a:path w="842645" h="885825">
                <a:moveTo>
                  <a:pt x="421004" y="0"/>
                </a:moveTo>
                <a:lnTo>
                  <a:pt x="375127" y="2599"/>
                </a:lnTo>
                <a:lnTo>
                  <a:pt x="330682" y="10219"/>
                </a:lnTo>
                <a:lnTo>
                  <a:pt x="287926" y="22587"/>
                </a:lnTo>
                <a:lnTo>
                  <a:pt x="247115" y="39434"/>
                </a:lnTo>
                <a:lnTo>
                  <a:pt x="208505" y="60489"/>
                </a:lnTo>
                <a:lnTo>
                  <a:pt x="172355" y="85482"/>
                </a:lnTo>
                <a:lnTo>
                  <a:pt x="138920" y="114141"/>
                </a:lnTo>
                <a:lnTo>
                  <a:pt x="108457" y="146198"/>
                </a:lnTo>
                <a:lnTo>
                  <a:pt x="81223" y="181380"/>
                </a:lnTo>
                <a:lnTo>
                  <a:pt x="57474" y="219418"/>
                </a:lnTo>
                <a:lnTo>
                  <a:pt x="37468" y="260041"/>
                </a:lnTo>
                <a:lnTo>
                  <a:pt x="21460" y="302979"/>
                </a:lnTo>
                <a:lnTo>
                  <a:pt x="9709" y="347961"/>
                </a:lnTo>
                <a:lnTo>
                  <a:pt x="2470" y="394717"/>
                </a:lnTo>
                <a:lnTo>
                  <a:pt x="0" y="442975"/>
                </a:lnTo>
                <a:lnTo>
                  <a:pt x="2470" y="491233"/>
                </a:lnTo>
                <a:lnTo>
                  <a:pt x="9709" y="537984"/>
                </a:lnTo>
                <a:lnTo>
                  <a:pt x="21460" y="582959"/>
                </a:lnTo>
                <a:lnTo>
                  <a:pt x="37468" y="625888"/>
                </a:lnTo>
                <a:lnTo>
                  <a:pt x="57474" y="666500"/>
                </a:lnTo>
                <a:lnTo>
                  <a:pt x="81223" y="704526"/>
                </a:lnTo>
                <a:lnTo>
                  <a:pt x="108457" y="739696"/>
                </a:lnTo>
                <a:lnTo>
                  <a:pt x="138920" y="771740"/>
                </a:lnTo>
                <a:lnTo>
                  <a:pt x="172355" y="800387"/>
                </a:lnTo>
                <a:lnTo>
                  <a:pt x="208505" y="825368"/>
                </a:lnTo>
                <a:lnTo>
                  <a:pt x="247115" y="846412"/>
                </a:lnTo>
                <a:lnTo>
                  <a:pt x="287926" y="863250"/>
                </a:lnTo>
                <a:lnTo>
                  <a:pt x="330682" y="875611"/>
                </a:lnTo>
                <a:lnTo>
                  <a:pt x="375127" y="883226"/>
                </a:lnTo>
                <a:lnTo>
                  <a:pt x="421004" y="885825"/>
                </a:lnTo>
                <a:lnTo>
                  <a:pt x="466905" y="883226"/>
                </a:lnTo>
                <a:lnTo>
                  <a:pt x="511371" y="875611"/>
                </a:lnTo>
                <a:lnTo>
                  <a:pt x="554145" y="863250"/>
                </a:lnTo>
                <a:lnTo>
                  <a:pt x="594971" y="846412"/>
                </a:lnTo>
                <a:lnTo>
                  <a:pt x="633593" y="825368"/>
                </a:lnTo>
                <a:lnTo>
                  <a:pt x="669754" y="800387"/>
                </a:lnTo>
                <a:lnTo>
                  <a:pt x="703197" y="771740"/>
                </a:lnTo>
                <a:lnTo>
                  <a:pt x="733666" y="739696"/>
                </a:lnTo>
                <a:lnTo>
                  <a:pt x="760905" y="704526"/>
                </a:lnTo>
                <a:lnTo>
                  <a:pt x="784657" y="666500"/>
                </a:lnTo>
                <a:lnTo>
                  <a:pt x="804666" y="625888"/>
                </a:lnTo>
                <a:lnTo>
                  <a:pt x="820675" y="582959"/>
                </a:lnTo>
                <a:lnTo>
                  <a:pt x="832427" y="537984"/>
                </a:lnTo>
                <a:lnTo>
                  <a:pt x="839666" y="491233"/>
                </a:lnTo>
                <a:lnTo>
                  <a:pt x="842136" y="442975"/>
                </a:lnTo>
                <a:lnTo>
                  <a:pt x="839666" y="394717"/>
                </a:lnTo>
                <a:lnTo>
                  <a:pt x="832427" y="347961"/>
                </a:lnTo>
                <a:lnTo>
                  <a:pt x="820675" y="302979"/>
                </a:lnTo>
                <a:lnTo>
                  <a:pt x="804666" y="260041"/>
                </a:lnTo>
                <a:lnTo>
                  <a:pt x="784657" y="219418"/>
                </a:lnTo>
                <a:lnTo>
                  <a:pt x="760905" y="181380"/>
                </a:lnTo>
                <a:lnTo>
                  <a:pt x="733666" y="146198"/>
                </a:lnTo>
                <a:lnTo>
                  <a:pt x="703197" y="114141"/>
                </a:lnTo>
                <a:lnTo>
                  <a:pt x="669754" y="85482"/>
                </a:lnTo>
                <a:lnTo>
                  <a:pt x="633593" y="60489"/>
                </a:lnTo>
                <a:lnTo>
                  <a:pt x="594971" y="39434"/>
                </a:lnTo>
                <a:lnTo>
                  <a:pt x="554145" y="22587"/>
                </a:lnTo>
                <a:lnTo>
                  <a:pt x="511371" y="10219"/>
                </a:lnTo>
                <a:lnTo>
                  <a:pt x="466905" y="2599"/>
                </a:lnTo>
                <a:lnTo>
                  <a:pt x="421004" y="0"/>
                </a:lnTo>
                <a:close/>
              </a:path>
            </a:pathLst>
          </a:custGeom>
          <a:solidFill>
            <a:srgbClr val="206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865234" y="5527370"/>
            <a:ext cx="41275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5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55154" y="3283434"/>
            <a:ext cx="3089275" cy="105029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675"/>
              </a:spcBef>
            </a:pPr>
            <a:r>
              <a:rPr dirty="0" sz="3000" spc="-10" b="1">
                <a:solidFill>
                  <a:srgbClr val="2066F3"/>
                </a:solidFill>
                <a:latin typeface="Arial"/>
                <a:cs typeface="Arial"/>
              </a:rPr>
              <a:t>PILOT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2800" b="1">
                <a:solidFill>
                  <a:srgbClr val="111111"/>
                </a:solidFill>
                <a:latin typeface="Arial"/>
                <a:cs typeface="Arial"/>
              </a:rPr>
              <a:t>Authoritative</a:t>
            </a:r>
            <a:r>
              <a:rPr dirty="0" sz="2800" spc="-1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spc="-20" b="1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8057" y="6454266"/>
            <a:ext cx="3870325" cy="1779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5"/>
              </a:spcBef>
              <a:buChar char="•"/>
              <a:tabLst>
                <a:tab pos="194310" algn="l"/>
              </a:tabLst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Official</a:t>
            </a:r>
            <a:r>
              <a:rPr dirty="0" sz="23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KSP</a:t>
            </a:r>
            <a:r>
              <a:rPr dirty="0" sz="2300" spc="-6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GIS</a:t>
            </a:r>
            <a:r>
              <a:rPr dirty="0" sz="2300" spc="-1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boundary</a:t>
            </a:r>
            <a:endParaRPr sz="2300">
              <a:latin typeface="Arial"/>
              <a:cs typeface="Arial"/>
            </a:endParaRPr>
          </a:p>
          <a:p>
            <a:pPr marL="1178560">
              <a:lnSpc>
                <a:spcPct val="100000"/>
              </a:lnSpc>
            </a:pP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integration</a:t>
            </a:r>
            <a:endParaRPr sz="2300">
              <a:latin typeface="Arial"/>
              <a:cs typeface="Arial"/>
            </a:endParaRPr>
          </a:p>
          <a:p>
            <a:pPr lvl="1" marL="506730" indent="-181610">
              <a:lnSpc>
                <a:spcPct val="100000"/>
              </a:lnSpc>
              <a:buChar char="•"/>
              <a:tabLst>
                <a:tab pos="506730" algn="l"/>
              </a:tabLst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Secure</a:t>
            </a:r>
            <a:r>
              <a:rPr dirty="0" sz="23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CAD</a:t>
            </a:r>
            <a:r>
              <a:rPr dirty="0" sz="2300" spc="-2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pipelines</a:t>
            </a:r>
            <a:endParaRPr sz="2300">
              <a:latin typeface="Arial"/>
              <a:cs typeface="Arial"/>
            </a:endParaRPr>
          </a:p>
          <a:p>
            <a:pPr lvl="1" marL="481330" indent="-182245">
              <a:lnSpc>
                <a:spcPct val="100000"/>
              </a:lnSpc>
              <a:buChar char="•"/>
              <a:tabLst>
                <a:tab pos="481330" algn="l"/>
              </a:tabLst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RBAC</a:t>
            </a:r>
            <a:r>
              <a:rPr dirty="0" sz="2300" spc="-3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&amp;</a:t>
            </a:r>
            <a:r>
              <a:rPr dirty="0" sz="2300" spc="-8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Audit</a:t>
            </a:r>
            <a:r>
              <a:rPr dirty="0" sz="2300" spc="-4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logging</a:t>
            </a:r>
            <a:endParaRPr sz="2300">
              <a:latin typeface="Arial"/>
              <a:cs typeface="Arial"/>
            </a:endParaRPr>
          </a:p>
          <a:p>
            <a:pPr lvl="2" marL="789940" indent="-181610">
              <a:lnSpc>
                <a:spcPct val="100000"/>
              </a:lnSpc>
              <a:buChar char="•"/>
              <a:tabLst>
                <a:tab pos="789940" algn="l"/>
              </a:tabLst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Scheduled</a:t>
            </a:r>
            <a:r>
              <a:rPr dirty="0" sz="2300" spc="-3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retrain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256638" y="5410200"/>
            <a:ext cx="842644" cy="843280"/>
          </a:xfrm>
          <a:custGeom>
            <a:avLst/>
            <a:gdLst/>
            <a:ahLst/>
            <a:cxnLst/>
            <a:rect l="l" t="t" r="r" b="b"/>
            <a:pathLst>
              <a:path w="842644" h="843279">
                <a:moveTo>
                  <a:pt x="421132" y="0"/>
                </a:moveTo>
                <a:lnTo>
                  <a:pt x="372004" y="2835"/>
                </a:lnTo>
                <a:lnTo>
                  <a:pt x="324545" y="11132"/>
                </a:lnTo>
                <a:lnTo>
                  <a:pt x="279070" y="24574"/>
                </a:lnTo>
                <a:lnTo>
                  <a:pt x="235894" y="42843"/>
                </a:lnTo>
                <a:lnTo>
                  <a:pt x="195333" y="65625"/>
                </a:lnTo>
                <a:lnTo>
                  <a:pt x="157702" y="92602"/>
                </a:lnTo>
                <a:lnTo>
                  <a:pt x="123316" y="123459"/>
                </a:lnTo>
                <a:lnTo>
                  <a:pt x="92493" y="157879"/>
                </a:lnTo>
                <a:lnTo>
                  <a:pt x="65545" y="195546"/>
                </a:lnTo>
                <a:lnTo>
                  <a:pt x="42790" y="236144"/>
                </a:lnTo>
                <a:lnTo>
                  <a:pt x="24542" y="279355"/>
                </a:lnTo>
                <a:lnTo>
                  <a:pt x="11118" y="324865"/>
                </a:lnTo>
                <a:lnTo>
                  <a:pt x="2832" y="372356"/>
                </a:lnTo>
                <a:lnTo>
                  <a:pt x="0" y="421513"/>
                </a:lnTo>
                <a:lnTo>
                  <a:pt x="2832" y="470667"/>
                </a:lnTo>
                <a:lnTo>
                  <a:pt x="11118" y="518153"/>
                </a:lnTo>
                <a:lnTo>
                  <a:pt x="24542" y="563655"/>
                </a:lnTo>
                <a:lnTo>
                  <a:pt x="42790" y="606856"/>
                </a:lnTo>
                <a:lnTo>
                  <a:pt x="65545" y="647442"/>
                </a:lnTo>
                <a:lnTo>
                  <a:pt x="92493" y="685096"/>
                </a:lnTo>
                <a:lnTo>
                  <a:pt x="123316" y="719502"/>
                </a:lnTo>
                <a:lnTo>
                  <a:pt x="157702" y="750345"/>
                </a:lnTo>
                <a:lnTo>
                  <a:pt x="195333" y="777310"/>
                </a:lnTo>
                <a:lnTo>
                  <a:pt x="235894" y="800080"/>
                </a:lnTo>
                <a:lnTo>
                  <a:pt x="279070" y="818339"/>
                </a:lnTo>
                <a:lnTo>
                  <a:pt x="324545" y="831773"/>
                </a:lnTo>
                <a:lnTo>
                  <a:pt x="372004" y="840064"/>
                </a:lnTo>
                <a:lnTo>
                  <a:pt x="421132" y="842899"/>
                </a:lnTo>
                <a:lnTo>
                  <a:pt x="470234" y="840064"/>
                </a:lnTo>
                <a:lnTo>
                  <a:pt x="517671" y="831773"/>
                </a:lnTo>
                <a:lnTo>
                  <a:pt x="563128" y="818339"/>
                </a:lnTo>
                <a:lnTo>
                  <a:pt x="606289" y="800080"/>
                </a:lnTo>
                <a:lnTo>
                  <a:pt x="646837" y="777310"/>
                </a:lnTo>
                <a:lnTo>
                  <a:pt x="684458" y="750345"/>
                </a:lnTo>
                <a:lnTo>
                  <a:pt x="718835" y="719502"/>
                </a:lnTo>
                <a:lnTo>
                  <a:pt x="749653" y="685096"/>
                </a:lnTo>
                <a:lnTo>
                  <a:pt x="776597" y="647442"/>
                </a:lnTo>
                <a:lnTo>
                  <a:pt x="799349" y="606856"/>
                </a:lnTo>
                <a:lnTo>
                  <a:pt x="817595" y="563655"/>
                </a:lnTo>
                <a:lnTo>
                  <a:pt x="831019" y="518153"/>
                </a:lnTo>
                <a:lnTo>
                  <a:pt x="839304" y="470667"/>
                </a:lnTo>
                <a:lnTo>
                  <a:pt x="842137" y="421513"/>
                </a:lnTo>
                <a:lnTo>
                  <a:pt x="839304" y="372356"/>
                </a:lnTo>
                <a:lnTo>
                  <a:pt x="831019" y="324865"/>
                </a:lnTo>
                <a:lnTo>
                  <a:pt x="817595" y="279355"/>
                </a:lnTo>
                <a:lnTo>
                  <a:pt x="799349" y="236144"/>
                </a:lnTo>
                <a:lnTo>
                  <a:pt x="776597" y="195546"/>
                </a:lnTo>
                <a:lnTo>
                  <a:pt x="749653" y="157879"/>
                </a:lnTo>
                <a:lnTo>
                  <a:pt x="718835" y="123459"/>
                </a:lnTo>
                <a:lnTo>
                  <a:pt x="684458" y="92602"/>
                </a:lnTo>
                <a:lnTo>
                  <a:pt x="646837" y="65625"/>
                </a:lnTo>
                <a:lnTo>
                  <a:pt x="606289" y="42843"/>
                </a:lnTo>
                <a:lnTo>
                  <a:pt x="563128" y="24574"/>
                </a:lnTo>
                <a:lnTo>
                  <a:pt x="517671" y="11132"/>
                </a:lnTo>
                <a:lnTo>
                  <a:pt x="470234" y="2835"/>
                </a:lnTo>
                <a:lnTo>
                  <a:pt x="421132" y="0"/>
                </a:lnTo>
                <a:close/>
              </a:path>
            </a:pathLst>
          </a:custGeom>
          <a:solidFill>
            <a:srgbClr val="5728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460092" y="5543169"/>
            <a:ext cx="4127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5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59537" y="3283434"/>
            <a:ext cx="3028315" cy="147701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675"/>
              </a:spcBef>
            </a:pPr>
            <a:r>
              <a:rPr dirty="0" sz="3000" spc="-10" b="1">
                <a:solidFill>
                  <a:srgbClr val="5728E4"/>
                </a:solidFill>
                <a:latin typeface="Arial"/>
                <a:cs typeface="Arial"/>
              </a:rPr>
              <a:t>SCALE</a:t>
            </a:r>
            <a:endParaRPr sz="30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  <a:spcBef>
                <a:spcPts val="535"/>
              </a:spcBef>
            </a:pPr>
            <a:r>
              <a:rPr dirty="0" sz="2800" b="1">
                <a:solidFill>
                  <a:srgbClr val="111111"/>
                </a:solidFill>
                <a:latin typeface="Arial"/>
                <a:cs typeface="Arial"/>
              </a:rPr>
              <a:t>Prove</a:t>
            </a:r>
            <a:r>
              <a:rPr dirty="0" sz="2800" spc="-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11111"/>
                </a:solidFill>
                <a:latin typeface="Arial"/>
                <a:cs typeface="Arial"/>
              </a:rPr>
              <a:t>operational value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00229" y="6454266"/>
            <a:ext cx="4147185" cy="1077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5"/>
              </a:spcBef>
              <a:buChar char="•"/>
              <a:tabLst>
                <a:tab pos="194310" algn="l"/>
              </a:tabLst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Prospective</a:t>
            </a:r>
            <a:r>
              <a:rPr dirty="0" sz="2300" spc="-8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field</a:t>
            </a:r>
            <a:r>
              <a:rPr dirty="0" sz="23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evaluation,</a:t>
            </a:r>
            <a:endParaRPr sz="2300">
              <a:latin typeface="Arial"/>
              <a:cs typeface="Arial"/>
            </a:endParaRPr>
          </a:p>
          <a:p>
            <a:pPr lvl="1" marL="575310" indent="-181610">
              <a:lnSpc>
                <a:spcPct val="100000"/>
              </a:lnSpc>
              <a:buChar char="•"/>
              <a:tabLst>
                <a:tab pos="575310" algn="l"/>
              </a:tabLst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Model</a:t>
            </a:r>
            <a:r>
              <a:rPr dirty="0" sz="2300" spc="-3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drift</a:t>
            </a:r>
            <a:r>
              <a:rPr dirty="0" sz="2300" spc="-25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monitoring,</a:t>
            </a:r>
            <a:endParaRPr sz="2300">
              <a:latin typeface="Arial"/>
              <a:cs typeface="Arial"/>
            </a:endParaRPr>
          </a:p>
          <a:p>
            <a:pPr lvl="2" marL="1172845" indent="-181610">
              <a:lnSpc>
                <a:spcPct val="100000"/>
              </a:lnSpc>
              <a:buChar char="•"/>
              <a:tabLst>
                <a:tab pos="1172845" algn="l"/>
              </a:tabLst>
            </a:pPr>
            <a:r>
              <a:rPr dirty="0" sz="2300" b="1">
                <a:solidFill>
                  <a:srgbClr val="58606B"/>
                </a:solidFill>
                <a:latin typeface="Arial"/>
                <a:cs typeface="Arial"/>
              </a:rPr>
              <a:t>Human</a:t>
            </a:r>
            <a:r>
              <a:rPr dirty="0" sz="2300" spc="-50" b="1">
                <a:solidFill>
                  <a:srgbClr val="58606B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58606B"/>
                </a:solidFill>
                <a:latin typeface="Arial"/>
                <a:cs typeface="Arial"/>
              </a:rPr>
              <a:t>review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9884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dirty="0"/>
              <a:t>RESPONSIBLE</a:t>
            </a:r>
            <a:r>
              <a:rPr dirty="0" spc="-30"/>
              <a:t> </a:t>
            </a:r>
            <a:r>
              <a:rPr dirty="0"/>
              <a:t>- DEPLOYMENT</a:t>
            </a:r>
            <a:r>
              <a:rPr dirty="0" spc="-35"/>
              <a:t> </a:t>
            </a:r>
            <a:r>
              <a:rPr dirty="0"/>
              <a:t>GUARDRAILS</a:t>
            </a:r>
            <a:r>
              <a:rPr dirty="0" spc="-35"/>
              <a:t> </a:t>
            </a:r>
            <a:r>
              <a:rPr dirty="0"/>
              <a:t>&amp; </a:t>
            </a:r>
            <a:r>
              <a:rPr dirty="0" spc="-10"/>
              <a:t>GOVERNANCE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3504438"/>
            <a:ext cx="13034644" cy="4133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Decision</a:t>
            </a:r>
            <a:r>
              <a:rPr dirty="0" sz="2550" spc="-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support</a:t>
            </a:r>
            <a:r>
              <a:rPr dirty="0" sz="255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dirty="0" sz="2550" spc="-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synthetic</a:t>
            </a:r>
            <a:r>
              <a:rPr dirty="0" sz="2550" spc="-7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engineering</a:t>
            </a:r>
            <a:r>
              <a:rPr dirty="0" sz="255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-</a:t>
            </a:r>
            <a:r>
              <a:rPr dirty="0" sz="2550" spc="-9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NOT</a:t>
            </a:r>
            <a:r>
              <a:rPr dirty="0" sz="2550" spc="-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an</a:t>
            </a:r>
            <a:r>
              <a:rPr dirty="0" sz="2550" spc="-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automated</a:t>
            </a:r>
            <a:r>
              <a:rPr dirty="0" sz="2550" spc="-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11111"/>
                </a:solidFill>
                <a:latin typeface="Arial"/>
                <a:cs typeface="Arial"/>
              </a:rPr>
              <a:t>enforcement</a:t>
            </a:r>
            <a:r>
              <a:rPr dirty="0" sz="2550" spc="-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111111"/>
                </a:solidFill>
                <a:latin typeface="Arial"/>
                <a:cs typeface="Arial"/>
              </a:rPr>
              <a:t>system</a:t>
            </a:r>
            <a:endParaRPr sz="2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39" y="4502911"/>
            <a:ext cx="294894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solidFill>
                  <a:srgbClr val="178B62"/>
                </a:solidFill>
                <a:latin typeface="Arial"/>
                <a:cs typeface="Arial"/>
              </a:rPr>
              <a:t>SUPPORTED</a:t>
            </a:r>
            <a:r>
              <a:rPr dirty="0" sz="2500" spc="-35" b="1">
                <a:solidFill>
                  <a:srgbClr val="178B62"/>
                </a:solidFill>
                <a:latin typeface="Arial"/>
                <a:cs typeface="Arial"/>
              </a:rPr>
              <a:t> </a:t>
            </a:r>
            <a:r>
              <a:rPr dirty="0" sz="2500" spc="-20" b="1">
                <a:solidFill>
                  <a:srgbClr val="178B62"/>
                </a:solidFill>
                <a:latin typeface="Arial"/>
                <a:cs typeface="Arial"/>
              </a:rPr>
              <a:t>USES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43000" y="5229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178B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45716" y="5168264"/>
            <a:ext cx="438213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Reproduce</a:t>
            </a:r>
            <a:r>
              <a:rPr dirty="0" sz="23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&amp;</a:t>
            </a:r>
            <a:r>
              <a:rPr dirty="0" sz="23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test</a:t>
            </a:r>
            <a:r>
              <a:rPr dirty="0" sz="230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pipeline</a:t>
            </a:r>
            <a:r>
              <a:rPr dirty="0" sz="23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111111"/>
                </a:solidFill>
                <a:latin typeface="Arial"/>
                <a:cs typeface="Arial"/>
              </a:rPr>
              <a:t>code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3000" y="6086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178B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5716" y="6025641"/>
            <a:ext cx="4839970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Benchmark</a:t>
            </a:r>
            <a:r>
              <a:rPr dirty="0" sz="2300" spc="-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vs.</a:t>
            </a:r>
            <a:r>
              <a:rPr dirty="0" sz="23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seasonal</a:t>
            </a:r>
            <a:r>
              <a:rPr dirty="0" sz="2300" spc="-7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111111"/>
                </a:solidFill>
                <a:latin typeface="Arial"/>
                <a:cs typeface="Arial"/>
              </a:rPr>
              <a:t>baselines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3000" y="6943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178B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45716" y="6882460"/>
            <a:ext cx="3887470" cy="377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Explore</a:t>
            </a:r>
            <a:r>
              <a:rPr dirty="0" sz="23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111111"/>
                </a:solidFill>
                <a:latin typeface="Arial"/>
                <a:cs typeface="Arial"/>
              </a:rPr>
              <a:t>"What-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If"</a:t>
            </a:r>
            <a:r>
              <a:rPr dirty="0" sz="23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111111"/>
                </a:solidFill>
                <a:latin typeface="Arial"/>
                <a:cs typeface="Arial"/>
              </a:rPr>
              <a:t>scenarios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43000" y="7800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178B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45716" y="7740142"/>
            <a:ext cx="5262880" cy="727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Review</a:t>
            </a:r>
            <a:r>
              <a:rPr dirty="0" sz="23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Spatial,</a:t>
            </a:r>
            <a:r>
              <a:rPr dirty="0" sz="23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Network</a:t>
            </a:r>
            <a:r>
              <a:rPr dirty="0" sz="23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dirty="0" sz="23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111111"/>
                </a:solidFill>
                <a:latin typeface="Arial"/>
                <a:cs typeface="Arial"/>
              </a:rPr>
              <a:t>Fairness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300" spc="-10" b="1">
                <a:solidFill>
                  <a:srgbClr val="111111"/>
                </a:solidFill>
                <a:latin typeface="Arial"/>
                <a:cs typeface="Arial"/>
              </a:rPr>
              <a:t>Diagnostics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95129" y="4502911"/>
            <a:ext cx="275780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solidFill>
                  <a:srgbClr val="D54545"/>
                </a:solidFill>
                <a:latin typeface="Arial"/>
                <a:cs typeface="Arial"/>
              </a:rPr>
              <a:t>NOT</a:t>
            </a:r>
            <a:r>
              <a:rPr dirty="0" sz="2500" spc="-50" b="1">
                <a:solidFill>
                  <a:srgbClr val="D54545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D54545"/>
                </a:solidFill>
                <a:latin typeface="Arial"/>
                <a:cs typeface="Arial"/>
              </a:rPr>
              <a:t>SUPPORTED</a:t>
            </a:r>
            <a:endParaRPr sz="25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15500" y="5229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D545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118852" y="5168264"/>
            <a:ext cx="4307840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0" b="1">
                <a:solidFill>
                  <a:srgbClr val="111111"/>
                </a:solidFill>
                <a:latin typeface="Arial"/>
                <a:cs typeface="Arial"/>
              </a:rPr>
              <a:t>Treat</a:t>
            </a:r>
            <a:r>
              <a:rPr dirty="0" sz="2300" spc="-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labels</a:t>
            </a:r>
            <a:r>
              <a:rPr dirty="0" sz="2300" spc="-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as</a:t>
            </a:r>
            <a:r>
              <a:rPr dirty="0" sz="23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dispatch</a:t>
            </a:r>
            <a:r>
              <a:rPr dirty="0" sz="2300" spc="-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111111"/>
                </a:solidFill>
                <a:latin typeface="Arial"/>
                <a:cs typeface="Arial"/>
              </a:rPr>
              <a:t>orders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15500" y="6086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D545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118852" y="6025641"/>
            <a:ext cx="442277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Claim</a:t>
            </a:r>
            <a:r>
              <a:rPr dirty="0" sz="23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legal</a:t>
            </a:r>
            <a:r>
              <a:rPr dirty="0" sz="23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fairness/causal</a:t>
            </a:r>
            <a:r>
              <a:rPr dirty="0" sz="23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111111"/>
                </a:solidFill>
                <a:latin typeface="Arial"/>
                <a:cs typeface="Arial"/>
              </a:rPr>
              <a:t>bias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15500" y="6943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D545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118852" y="6882460"/>
            <a:ext cx="4113529" cy="377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Interpret</a:t>
            </a:r>
            <a:r>
              <a:rPr dirty="0" sz="230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routes</a:t>
            </a:r>
            <a:r>
              <a:rPr dirty="0" sz="23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as</a:t>
            </a:r>
            <a:r>
              <a:rPr dirty="0" sz="23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exact</a:t>
            </a:r>
            <a:r>
              <a:rPr dirty="0" sz="230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25" b="1">
                <a:solidFill>
                  <a:srgbClr val="111111"/>
                </a:solidFill>
                <a:latin typeface="Arial"/>
                <a:cs typeface="Arial"/>
              </a:rPr>
              <a:t>GPS</a:t>
            </a:r>
            <a:endParaRPr sz="23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715500" y="7800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D545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0118852" y="7740142"/>
            <a:ext cx="479425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Deploy</a:t>
            </a:r>
            <a:r>
              <a:rPr dirty="0" sz="23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without</a:t>
            </a:r>
            <a:r>
              <a:rPr dirty="0" sz="23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111111"/>
                </a:solidFill>
                <a:latin typeface="Arial"/>
                <a:cs typeface="Arial"/>
              </a:rPr>
              <a:t>official</a:t>
            </a:r>
            <a:r>
              <a:rPr dirty="0" sz="23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111111"/>
                </a:solidFill>
                <a:latin typeface="Arial"/>
                <a:cs typeface="Arial"/>
              </a:rPr>
              <a:t>boundaries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1739" y="9055100"/>
            <a:ext cx="672719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Descriptive</a:t>
            </a:r>
            <a:r>
              <a:rPr dirty="0" sz="2500" spc="-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FF0000"/>
                </a:solidFill>
                <a:latin typeface="Calibri"/>
                <a:cs typeface="Calibri"/>
              </a:rPr>
              <a:t>diagnostics</a:t>
            </a:r>
            <a:r>
              <a:rPr dirty="0" sz="2500" spc="-7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dirty="0" sz="2500" spc="-7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dirty="0" sz="2500" spc="-8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80k</a:t>
            </a:r>
            <a:r>
              <a:rPr dirty="0" sz="2500" spc="-6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synthetic</a:t>
            </a:r>
            <a:r>
              <a:rPr dirty="0" sz="2500" spc="-8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500" spc="-20" b="1">
                <a:solidFill>
                  <a:srgbClr val="FF0000"/>
                </a:solidFill>
                <a:latin typeface="Calibri"/>
                <a:cs typeface="Calibri"/>
              </a:rPr>
              <a:t>FIRs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Walnut Exporter</dc:creator>
  <dc:title>Presentation</dc:title>
  <dcterms:created xsi:type="dcterms:W3CDTF">2026-07-26T02:08:52Z</dcterms:created>
  <dcterms:modified xsi:type="dcterms:W3CDTF">2026-07-26T02:08:52Z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2026-07-26T00:00:00Z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2026-07-26T00:00:00Z</vt:filetime>
  </property>
  <property fmtid="{D5CDD505-2E9C-101B-9397-08002B2CF9AE}" pid="6" name="Producer">
    <vt:lpwstr>Microsoft® PowerPoint® 2024</vt:lpwstr>
  </property>
</Properties>
</file>